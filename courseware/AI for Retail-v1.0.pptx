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AI for Retail</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C398</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17 August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ACLP-certified trainer; delivers applied AI and data courses for business teams.</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Practical, no-code AI courses for retail, marketing, operations and analytics roles.</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name, your store or organisation, and your role.</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What you sell, and how many outlets or channels you run.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Which AI tools you have already tried at work, if any.</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The one retail task you would most like to hand to AI by this evening.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Lesson Plan — 1 Day, 7.5 instructional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1 - Topics Covered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How the Day Runs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AI foundations for retail, then AI applied across operations and customer experience</a:t>
            </a:r>
          </a:p>
          <a:p>
            <a:pPr>
              <a:spcAft>
                <a:spcPts val="1000"/>
              </a:spcAft>
            </a:pPr>
            <a:r>
              <a:rPr sz="1400" b="0">
                <a:solidFill>
                  <a:srgbClr val="5B6372"/>
                </a:solidFill>
                <a:latin typeface="Arial"/>
              </a:rPr>
              <a:t>–  Topic 1: Introduction to AI for Retail (Labs 1–4)</a:t>
            </a:r>
          </a:p>
          <a:p>
            <a:pPr>
              <a:spcAft>
                <a:spcPts val="1000"/>
              </a:spcAft>
            </a:pPr>
            <a:r>
              <a:rPr sz="1400" b="0">
                <a:solidFill>
                  <a:srgbClr val="5B6372"/>
                </a:solidFill>
                <a:latin typeface="Arial"/>
              </a:rPr>
              <a:t>–  Topic 2: Applying AI to Retail Operations and Customer Experience (Labs 5–9)</a:t>
            </a:r>
          </a:p>
          <a:p>
            <a:pPr>
              <a:spcAft>
                <a:spcPts val="1000"/>
              </a:spcAft>
            </a:pPr>
            <a:r>
              <a:rPr sz="1600" b="0">
                <a:solidFill>
                  <a:srgbClr val="161B26"/>
                </a:solidFill>
                <a:latin typeface="Arial"/>
              </a:rPr>
              <a:t>•  Hands-on lab time</a:t>
            </a:r>
          </a:p>
          <a:p>
            <a:pPr>
              <a:spcAft>
                <a:spcPts val="1000"/>
              </a:spcAft>
            </a:pPr>
            <a:r>
              <a:rPr sz="1400" b="0">
                <a:solidFill>
                  <a:srgbClr val="5B6372"/>
                </a:solidFill>
                <a:latin typeface="Arial"/>
              </a:rPr>
              <a:t>–  9 labs  ·  330 minutes  ·  one connected retail scenario</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9:30am-6:30pm  ·  1-hour lunch  ·  tea breaks within training time</a:t>
            </a:r>
          </a:p>
          <a:p>
            <a:pPr>
              <a:spcAft>
                <a:spcPts val="1000"/>
              </a:spcAft>
            </a:pPr>
            <a:r>
              <a:rPr sz="1600" b="0">
                <a:solidFill>
                  <a:srgbClr val="161B26"/>
                </a:solidFill>
                <a:latin typeface="Arial"/>
              </a:rPr>
              <a:t>•  How the day runs</a:t>
            </a:r>
          </a:p>
          <a:p>
            <a:pPr>
              <a:spcAft>
                <a:spcPts val="1000"/>
              </a:spcAft>
            </a:pPr>
            <a:r>
              <a:rPr sz="1400" b="0">
                <a:solidFill>
                  <a:srgbClr val="5B6372"/>
                </a:solidFill>
                <a:latin typeface="Arial"/>
              </a:rPr>
              <a:t>–  Concepts and trainer demo, then you build it yourself in the lab.</a:t>
            </a:r>
          </a:p>
          <a:p>
            <a:pPr>
              <a:spcAft>
                <a:spcPts val="1000"/>
              </a:spcAft>
            </a:pPr>
            <a:r>
              <a:rPr sz="1400" b="0">
                <a:solidFill>
                  <a:srgbClr val="5B6372"/>
                </a:solidFill>
                <a:latin typeface="Arial"/>
              </a:rPr>
              <a:t>–  Every lab ends with a 'Test it' check you run yourself.</a:t>
            </a:r>
          </a:p>
          <a:p>
            <a:pPr>
              <a:spcAft>
                <a:spcPts val="1000"/>
              </a:spcAft>
            </a:pPr>
            <a:r>
              <a:rPr sz="1400" b="0">
                <a:solidFill>
                  <a:srgbClr val="5B6372"/>
                </a:solidFill>
                <a:latin typeface="Arial"/>
              </a:rPr>
              <a:t>–  Recap and Q&amp;A against the learning outcomes to close.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AI Landscape</a:t>
            </a:r>
          </a:p>
          <a:p>
            <a:pPr algn="l">
              <a:spcAft>
                <a:spcPts val="300"/>
              </a:spcAft>
            </a:pPr>
            <a:r>
              <a:rPr sz="1200" b="0">
                <a:solidFill>
                  <a:srgbClr val="5B6372"/>
                </a:solidFill>
                <a:latin typeface="Arial"/>
              </a:rPr>
              <a:t>Describe the AI landscape from generative AI to AI agents, and identify high-value AI use cases across the retail value chain.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AI Assistants</a:t>
            </a:r>
          </a:p>
          <a:p>
            <a:pPr algn="l">
              <a:spcAft>
                <a:spcPts val="300"/>
              </a:spcAft>
            </a:pPr>
            <a:r>
              <a:rPr sz="1200" b="0">
                <a:solidFill>
                  <a:srgbClr val="5B6372"/>
                </a:solidFill>
                <a:latin typeface="Arial"/>
              </a:rPr>
              <a:t>Use AI assistants such as ChatGPT, Claude, Microsoft Copilot and Google Gemini to complete everyday retail tasks with well-structured prompts.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Content &amp; Visuals</a:t>
            </a:r>
          </a:p>
          <a:p>
            <a:pPr algn="l">
              <a:spcAft>
                <a:spcPts val="300"/>
              </a:spcAft>
            </a:pPr>
            <a:r>
              <a:rPr sz="1200" b="0">
                <a:solidFill>
                  <a:srgbClr val="5B6372"/>
                </a:solidFill>
                <a:latin typeface="Arial"/>
              </a:rPr>
              <a:t>Generate on-brand product descriptions, marketing copy and product visuals with AI, and check them before they reach a customer.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Responsible AI</a:t>
            </a:r>
          </a:p>
          <a:p>
            <a:pPr algn="l">
              <a:spcAft>
                <a:spcPts val="300"/>
              </a:spcAft>
            </a:pPr>
            <a:r>
              <a:rPr sz="1200" b="0">
                <a:solidFill>
                  <a:srgbClr val="5B6372"/>
                </a:solidFill>
                <a:latin typeface="Arial"/>
              </a:rPr>
              <a:t>Apply customer data privacy, governance and responsible-AI practices when using AI tools on retail data.</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Service &amp; Personalisation</a:t>
            </a:r>
          </a:p>
          <a:p>
            <a:pPr algn="l">
              <a:spcAft>
                <a:spcPts val="300"/>
              </a:spcAft>
            </a:pPr>
            <a:r>
              <a:rPr sz="1200" b="0">
                <a:solidFill>
                  <a:srgbClr val="5B6372"/>
                </a:solidFill>
                <a:latin typeface="Arial"/>
              </a:rPr>
              <a:t>Deploy AI for customer service, personalised recommendations and targeted promotions in a retail setting.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Analytics &amp; Workflows</a:t>
            </a:r>
          </a:p>
          <a:p>
            <a:pPr algn="l">
              <a:spcAft>
                <a:spcPts val="300"/>
              </a:spcAft>
            </a:pPr>
            <a:r>
              <a:rPr sz="1200" b="0">
                <a:solidFill>
                  <a:srgbClr val="5B6372"/>
                </a:solidFill>
                <a:latin typeface="Arial"/>
              </a:rPr>
              <a:t>Apply AI to demand forecasting, inventory planning, pricing, merchandising and sales analytics, and build simple AI workflows for daily retail tasks.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 Foundations for Retail</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Generative AI</a:t>
            </a:r>
          </a:p>
          <a:p>
            <a:pPr algn="l">
              <a:spcAft>
                <a:spcPts val="300"/>
              </a:spcAft>
            </a:pPr>
            <a:r>
              <a:rPr sz="1200" b="0">
                <a:solidFill>
                  <a:srgbClr val="5B6372"/>
                </a:solidFill>
                <a:latin typeface="Arial"/>
              </a:rPr>
              <a:t>Creates new text, images and copy from a prompt. The engine behind product descriptions and campaign content.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AI Assistant</a:t>
            </a:r>
          </a:p>
          <a:p>
            <a:pPr algn="l">
              <a:spcAft>
                <a:spcPts val="300"/>
              </a:spcAft>
            </a:pPr>
            <a:r>
              <a:rPr sz="1200" b="0">
                <a:solidFill>
                  <a:srgbClr val="5B6372"/>
                </a:solidFill>
                <a:latin typeface="Arial"/>
              </a:rPr>
              <a:t>A chat interface - ChatGPT, Claude, Copilot, Gemini - that you brief in plain English to do a retail task.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AI Agent</a:t>
            </a:r>
          </a:p>
          <a:p>
            <a:pPr algn="l">
              <a:spcAft>
                <a:spcPts val="300"/>
              </a:spcAft>
            </a:pPr>
            <a:r>
              <a:rPr sz="1200" b="0">
                <a:solidFill>
                  <a:srgbClr val="5B6372"/>
                </a:solidFill>
                <a:latin typeface="Arial"/>
              </a:rPr>
              <a:t>Goes beyond answering: plans and carries out a multi-step task using tools and your data.</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Grounding</a:t>
            </a:r>
          </a:p>
          <a:p>
            <a:pPr algn="l">
              <a:spcAft>
                <a:spcPts val="300"/>
              </a:spcAft>
            </a:pPr>
            <a:r>
              <a:rPr sz="1200" b="0">
                <a:solidFill>
                  <a:srgbClr val="5B6372"/>
                </a:solidFill>
                <a:latin typeface="Arial"/>
              </a:rPr>
              <a:t>Giving the AI your own FAQ, policies and product data so answers come from your store, not from the open internet.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Prompt Pattern</a:t>
            </a:r>
          </a:p>
          <a:p>
            <a:pPr algn="l">
              <a:spcAft>
                <a:spcPts val="300"/>
              </a:spcAft>
            </a:pPr>
            <a:r>
              <a:rPr sz="1200" b="0">
                <a:solidFill>
                  <a:srgbClr val="5B6372"/>
                </a:solidFill>
                <a:latin typeface="Arial"/>
              </a:rPr>
              <a:t>Role, context, task, format, constraints - the five-part brief that makes AI output usable first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Human in the Loop</a:t>
            </a:r>
          </a:p>
          <a:p>
            <a:pPr algn="l">
              <a:spcAft>
                <a:spcPts val="300"/>
              </a:spcAft>
            </a:pPr>
            <a:r>
              <a:rPr sz="1200" b="0">
                <a:solidFill>
                  <a:srgbClr val="5B6372"/>
                </a:solidFill>
                <a:latin typeface="Arial"/>
              </a:rPr>
              <a:t>A person checks and approves every AI output that reaches a customer, a price or a purchase order.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Retail AI Value Chain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Source &amp; Buy</a:t>
            </a:r>
          </a:p>
          <a:p>
            <a:pPr algn="l">
              <a:spcAft>
                <a:spcPts val="300"/>
              </a:spcAft>
            </a:pPr>
            <a:r>
              <a:rPr sz="1200" b="0">
                <a:solidFill>
                  <a:srgbClr val="5B6372"/>
                </a:solidFill>
                <a:latin typeface="Arial"/>
              </a:rPr>
              <a:t>Supplier research, spec comparison and negotiation prep.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Merchandise &amp; Price</a:t>
            </a:r>
          </a:p>
          <a:p>
            <a:pPr algn="l">
              <a:spcAft>
                <a:spcPts val="300"/>
              </a:spcAft>
            </a:pPr>
            <a:r>
              <a:rPr sz="1200" b="0">
                <a:solidFill>
                  <a:srgbClr val="5B6372"/>
                </a:solidFill>
                <a:latin typeface="Arial"/>
              </a:rPr>
              <a:t>Assortment reviews, markdown candidates, category narratives.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Market &amp; Sell</a:t>
            </a:r>
          </a:p>
          <a:p>
            <a:pPr algn="l">
              <a:spcAft>
                <a:spcPts val="300"/>
              </a:spcAft>
            </a:pPr>
            <a:r>
              <a:rPr sz="1200" b="0">
                <a:solidFill>
                  <a:srgbClr val="5B6372"/>
                </a:solidFill>
                <a:latin typeface="Arial"/>
              </a:rPr>
              <a:t>Product copy, campaign assets, social captions, email.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Serve</a:t>
            </a:r>
          </a:p>
          <a:p>
            <a:pPr algn="l">
              <a:spcAft>
                <a:spcPts val="300"/>
              </a:spcAft>
            </a:pPr>
            <a:r>
              <a:rPr sz="1200" b="0">
                <a:solidFill>
                  <a:srgbClr val="5B6372"/>
                </a:solidFill>
                <a:latin typeface="Arial"/>
              </a:rPr>
              <a:t>FAQ assistants, returns handling, review replies, tone control.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Plan &amp; Forecast</a:t>
            </a:r>
          </a:p>
          <a:p>
            <a:pPr algn="l">
              <a:spcAft>
                <a:spcPts val="300"/>
              </a:spcAft>
            </a:pPr>
            <a:r>
              <a:rPr sz="1200" b="0">
                <a:solidFill>
                  <a:srgbClr val="5B6372"/>
                </a:solidFill>
                <a:latin typeface="Arial"/>
              </a:rPr>
              <a:t>Demand forecasts, reorder points, slow-mover and stock-risk reports.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Analyse</a:t>
            </a:r>
          </a:p>
          <a:p>
            <a:pPr algn="l">
              <a:spcAft>
                <a:spcPts val="300"/>
              </a:spcAft>
            </a:pPr>
            <a:r>
              <a:rPr sz="1200" b="0">
                <a:solidFill>
                  <a:srgbClr val="5B6372"/>
                </a:solidFill>
                <a:latin typeface="Arial"/>
              </a:rPr>
              <a:t>Plain-English sales analytics, KPI summaries and action lists.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THIS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AI does not replace the retailer's judgement - it removes the hours before the judgement.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Every lab today produces something you could use in your store tomorrow: product copy, a service assistant, a forecast, a pricing review, a working workflow.</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Content &amp; Brand</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reusable five-part house prompt template</a:t>
            </a:r>
          </a:p>
          <a:p>
            <a:pPr>
              <a:spcAft>
                <a:spcPts val="900"/>
              </a:spcAft>
            </a:pPr>
            <a:r>
              <a:rPr sz="1400" b="0">
                <a:solidFill>
                  <a:srgbClr val="161B26"/>
                </a:solidFill>
                <a:latin typeface="Arial"/>
              </a:rPr>
              <a:t>•  AI product descriptions and SEO metadata for a catalogue</a:t>
            </a:r>
          </a:p>
          <a:p>
            <a:pPr>
              <a:spcAft>
                <a:spcPts val="900"/>
              </a:spcAft>
            </a:pPr>
            <a:r>
              <a:rPr sz="1400" b="0">
                <a:solidFill>
                  <a:srgbClr val="161B26"/>
                </a:solidFill>
                <a:latin typeface="Arial"/>
              </a:rPr>
              <a:t>•  Campaign copy and an AI-generated product visual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Customer Experience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store service assistant grounded in your own policies</a:t>
            </a:r>
          </a:p>
          <a:p>
            <a:pPr>
              <a:spcAft>
                <a:spcPts val="900"/>
              </a:spcAft>
            </a:pPr>
            <a:r>
              <a:rPr sz="1400" b="0">
                <a:solidFill>
                  <a:srgbClr val="161B26"/>
                </a:solidFill>
                <a:latin typeface="Arial"/>
              </a:rPr>
              <a:t>•  Four customer segments with a targeted offer each</a:t>
            </a:r>
          </a:p>
          <a:p>
            <a:pPr>
              <a:spcAft>
                <a:spcPts val="900"/>
              </a:spcAft>
            </a:pPr>
            <a:r>
              <a:rPr sz="1400" b="0">
                <a:solidFill>
                  <a:srgbClr val="161B26"/>
                </a:solidFill>
                <a:latin typeface="Arial"/>
              </a:rPr>
              <a:t>•  Next-best-product recommendations for named customers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Operations &amp; Analytics</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three-month demand forecast and reorder plan</a:t>
            </a:r>
          </a:p>
          <a:p>
            <a:pPr>
              <a:spcAft>
                <a:spcPts val="900"/>
              </a:spcAft>
            </a:pPr>
            <a:r>
              <a:rPr sz="1400" b="0">
                <a:solidFill>
                  <a:srgbClr val="161B26"/>
                </a:solidFill>
                <a:latin typeface="Arial"/>
              </a:rPr>
              <a:t>•  A margin, markdown and category review</a:t>
            </a:r>
          </a:p>
          <a:p>
            <a:pPr>
              <a:spcAft>
                <a:spcPts val="900"/>
              </a:spcAft>
            </a:pPr>
            <a:r>
              <a:rPr sz="1400" b="0">
                <a:solidFill>
                  <a:srgbClr val="161B26"/>
                </a:solidFill>
                <a:latin typeface="Arial"/>
              </a:rPr>
              <a:t>•  A no-code daily sales-summary workflow</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Progresses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Start from a real retail artifact - a product sheet, a sales export, a customer enquiry.</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Brief the AI with the five-part prompt pattern instead of a one-line question.</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Generate a first draft, then challenge it: check the numbers, the policy and the tone.</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Verify with the lab's 'Test it' step so you know the output is fit to use.</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Save the working prompt into your own prompt library so the next run takes minutes.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Introduction to AI for Retail</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The AI landscape  ·  use cases across the retail value chain  ·  hands-on with ChatGPT, Claude and Copilot  ·  AI-generated product and marketing content  ·  customer data privacy and responsible AI</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Introduction to AI for Retail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Generative AI creates new content - text, images, copy - from a prompt. An AI agent goes further: it plans and carries out a multi-step task using tools and data.</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Every stage of the retail value chain has an AI use case: sourcing, merchandising, pricing, marketing, store operations, e-commerce, service and after-sales.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An AI assistant is only as good as the brief. Role, context, task, format and constraints turn a vague answer into copy you can actually publish.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ChatGPT, Claude, Microsoft Copilot and Google Gemini answer the same brief differently. Comparing them on your own task is how you choose the right one.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AI cuts content production from hours to minutes for descriptions, campaigns and visuals - but every output needs a human check before a customer sees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Customer data is personal data. Anonymise before you paste, keep payment and identity data out of public AI tools, and keep a person accountable for the decision.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Introduction to AI for Retail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Brief an AI Assistant Like a Retail Manager</a:t>
            </a:r>
          </a:p>
          <a:p>
            <a:pPr>
              <a:spcAft>
                <a:spcPts val="900"/>
              </a:spcAft>
            </a:pPr>
            <a:r>
              <a:rPr sz="1400" b="0">
                <a:solidFill>
                  <a:srgbClr val="161B26"/>
                </a:solidFill>
                <a:latin typeface="Arial"/>
              </a:rPr>
              <a:t>•  Generate a Product Catalogue with AI</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Campaign Copy and AI Product Visuals</a:t>
            </a:r>
          </a:p>
          <a:p>
            <a:pPr>
              <a:spcAft>
                <a:spcPts val="900"/>
              </a:spcAft>
            </a:pPr>
            <a:r>
              <a:rPr sz="1400" b="0">
                <a:solidFill>
                  <a:srgbClr val="161B26"/>
                </a:solidFill>
                <a:latin typeface="Arial"/>
              </a:rPr>
              <a:t>•  Customer Data Privacy and Responsible AI</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Brief an AI Assistant Like a Retail Manager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900" b="0">
                <a:solidFill>
                  <a:srgbClr val="161B26"/>
                </a:solidFill>
                <a:latin typeface="Arial"/>
              </a:rPr>
              <a:t>Three AI assistants, one retail brief. You will send a deliberately vague request, see what comes back, then rewrite it with the five-part pattern - role, context, task, format, constraints - and run the improved brief across ChatGPT, Claude and Copilot or Gemini. You finish with a house prompt template you will reuse in every later lab.</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A reusable five-part house prompt template, plus a scored comparison of three AI assistants on the same retail brief.</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Claude, Microsoft Copilot or Google Gemini, labs/resources/products.csv</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Brief an AI Assistant Like a Retail Manager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2926080"/>
          </a:xfrm>
          <a:prstGeom prst="rect">
            <a:avLst/>
          </a:prstGeom>
          <a:noFill/>
        </p:spPr>
        <p:txBody>
          <a:bodyPr wrap="square" anchor="ctr">
            <a:spAutoFit/>
          </a:bodyPr>
          <a:lstStyle/>
          <a:p>
            <a:pPr algn="l">
              <a:spcAft>
                <a:spcPts val="400"/>
              </a:spcAft>
            </a:pPr>
            <a:r>
              <a:rPr sz="2300" b="0">
                <a:solidFill>
                  <a:srgbClr val="161B26"/>
                </a:solidFill>
                <a:latin typeface="Arial"/>
              </a:rPr>
              <a:t>Open ChatGPT, Claude and either Microsoft Copilot or Google Gemini in three browser tabs and sign in to each.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Brief an AI Assistant Like a Retail Manager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Send this deliberately vague one-line brief to ChatGPT, and read the answer critically.</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329184"/>
          </a:xfrm>
          <a:prstGeom prst="rect">
            <a:avLst/>
          </a:prstGeom>
          <a:noFill/>
        </p:spPr>
        <p:txBody>
          <a:bodyPr wrap="square" anchor="t">
            <a:spAutoFit/>
          </a:bodyPr>
          <a:lstStyle/>
          <a:p>
            <a:pPr algn="l">
              <a:spcAft>
                <a:spcPts val="200"/>
              </a:spcAft>
            </a:pPr>
            <a:r>
              <a:rPr sz="1300" b="0">
                <a:solidFill>
                  <a:srgbClr val="9CDCFE"/>
                </a:solidFill>
                <a:latin typeface="Arial"/>
              </a:rPr>
              <a:t>Write a product description for a coffee mug.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Brief an AI Assistant Like a Retail Manager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Rewrite the same request with the five-part pattern and send it again in a NEW chat.</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17998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1580388"/>
          </a:xfrm>
          <a:prstGeom prst="rect">
            <a:avLst/>
          </a:prstGeom>
          <a:noFill/>
        </p:spPr>
        <p:txBody>
          <a:bodyPr wrap="square" anchor="t">
            <a:spAutoFit/>
          </a:bodyPr>
          <a:lstStyle/>
          <a:p>
            <a:pPr algn="l">
              <a:spcAft>
                <a:spcPts val="200"/>
              </a:spcAft>
            </a:pPr>
            <a:r>
              <a:rPr sz="1300" b="0">
                <a:solidFill>
                  <a:srgbClr val="9CDCFE"/>
                </a:solidFill>
                <a:latin typeface="Arial"/>
              </a:rPr>
              <a:t>Role: you are a senior retail copywriter for Bloom &amp; Brew, a specialty home, gift and coffee retailer.</a:t>
            </a:r>
          </a:p>
          <a:p>
            <a:pPr algn="l">
              <a:spcAft>
                <a:spcPts val="200"/>
              </a:spcAft>
            </a:pPr>
            <a:r>
              <a:rPr sz="1300" b="0">
                <a:solidFill>
                  <a:srgbClr val="9CDCFE"/>
                </a:solidFill>
                <a:latin typeface="Arial"/>
              </a:rPr>
              <a:t>Context: the product is SKU BB-DRK-014, a 350ml double-walled stoneware mug, matte glaze, dishwasher safe, retail SGD 32.</a:t>
            </a:r>
          </a:p>
          <a:p>
            <a:pPr algn="l">
              <a:spcAft>
                <a:spcPts val="200"/>
              </a:spcAft>
            </a:pPr>
            <a:r>
              <a:rPr sz="1300" b="0">
                <a:solidFill>
                  <a:srgbClr val="9CDCFE"/>
                </a:solidFill>
                <a:latin typeface="Arial"/>
              </a:rPr>
              <a:t>Task: write the web product description.</a:t>
            </a:r>
          </a:p>
          <a:p>
            <a:pPr algn="l">
              <a:spcAft>
                <a:spcPts val="200"/>
              </a:spcAft>
            </a:pPr>
            <a:r>
              <a:rPr sz="1300" b="0">
                <a:solidFill>
                  <a:srgbClr val="9CDCFE"/>
                </a:solidFill>
                <a:latin typeface="Arial"/>
              </a:rPr>
              <a:t>Format: 60 words of body copy, then exactly five feature bullets of no more than 8 words each.</a:t>
            </a:r>
          </a:p>
          <a:p>
            <a:pPr algn="l">
              <a:spcAft>
                <a:spcPts val="200"/>
              </a:spcAft>
            </a:pPr>
            <a:r>
              <a:rPr sz="1300" b="0">
                <a:solidFill>
                  <a:srgbClr val="9CDCFE"/>
                </a:solidFill>
                <a:latin typeface="Arial"/>
              </a:rPr>
              <a:t>Constraints: British English, warm but not cute, no superlatives, no claims that are not in the context above.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Brief an AI Assistant Like a Retail Manager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2926080"/>
          </a:xfrm>
          <a:prstGeom prst="rect">
            <a:avLst/>
          </a:prstGeom>
          <a:noFill/>
        </p:spPr>
        <p:txBody>
          <a:bodyPr wrap="square" anchor="ctr">
            <a:spAutoFit/>
          </a:bodyPr>
          <a:lstStyle/>
          <a:p>
            <a:pPr algn="l">
              <a:spcAft>
                <a:spcPts val="400"/>
              </a:spcAft>
            </a:pPr>
            <a:r>
              <a:rPr sz="2300" b="0">
                <a:solidFill>
                  <a:srgbClr val="161B26"/>
                </a:solidFill>
                <a:latin typeface="Arial"/>
              </a:rPr>
              <a:t>Send that identical five-part prompt to Claude and to Copilot or Gemini, without changing a single word.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Brief an AI Assistant Like a Retail Manager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2926080"/>
          </a:xfrm>
          <a:prstGeom prst="rect">
            <a:avLst/>
          </a:prstGeom>
          <a:noFill/>
        </p:spPr>
        <p:txBody>
          <a:bodyPr wrap="square" anchor="ctr">
            <a:spAutoFit/>
          </a:bodyPr>
          <a:lstStyle/>
          <a:p>
            <a:pPr algn="l">
              <a:spcAft>
                <a:spcPts val="400"/>
              </a:spcAft>
            </a:pPr>
            <a:r>
              <a:rPr sz="2300" b="0">
                <a:solidFill>
                  <a:srgbClr val="161B26"/>
                </a:solidFill>
                <a:latin typeface="Arial"/>
              </a:rPr>
              <a:t>Score the three outputs 1-5 on brand fit, factual accuracy, format compliance and how long you would spend editing.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Brief an AI Assistant Like a Retail Manager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Save your five-part prompt as a house template with placeholders, ready to reuse for any product.</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13639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1144524"/>
          </a:xfrm>
          <a:prstGeom prst="rect">
            <a:avLst/>
          </a:prstGeom>
          <a:noFill/>
        </p:spPr>
        <p:txBody>
          <a:bodyPr wrap="square" anchor="t">
            <a:spAutoFit/>
          </a:bodyPr>
          <a:lstStyle/>
          <a:p>
            <a:pPr algn="l">
              <a:spcAft>
                <a:spcPts val="200"/>
              </a:spcAft>
            </a:pPr>
            <a:r>
              <a:rPr sz="1300" b="0">
                <a:solidFill>
                  <a:srgbClr val="9CDCFE"/>
                </a:solidFill>
                <a:latin typeface="Arial"/>
              </a:rPr>
              <a:t>Role: you are a senior retail copywriter for &lt;YOUR STORE NAME&gt;, a &lt;YOUR CATEGORY&gt; retailer.</a:t>
            </a:r>
          </a:p>
          <a:p>
            <a:pPr algn="l">
              <a:spcAft>
                <a:spcPts val="200"/>
              </a:spcAft>
            </a:pPr>
            <a:r>
              <a:rPr sz="1300" b="0">
                <a:solidFill>
                  <a:srgbClr val="9CDCFE"/>
                </a:solidFill>
                <a:latin typeface="Arial"/>
              </a:rPr>
              <a:t>Context: the product is &lt;SKU&gt;, &lt;KEY SPECS&gt;, retail &lt;PRICE&gt;.</a:t>
            </a:r>
          </a:p>
          <a:p>
            <a:pPr algn="l">
              <a:spcAft>
                <a:spcPts val="200"/>
              </a:spcAft>
            </a:pPr>
            <a:r>
              <a:rPr sz="1300" b="0">
                <a:solidFill>
                  <a:srgbClr val="9CDCFE"/>
                </a:solidFill>
                <a:latin typeface="Arial"/>
              </a:rPr>
              <a:t>Task: &lt;THE ONE THING YOU WANT DONE&gt;.</a:t>
            </a:r>
          </a:p>
          <a:p>
            <a:pPr algn="l">
              <a:spcAft>
                <a:spcPts val="200"/>
              </a:spcAft>
            </a:pPr>
            <a:r>
              <a:rPr sz="1300" b="0">
                <a:solidFill>
                  <a:srgbClr val="9CDCFE"/>
                </a:solidFill>
                <a:latin typeface="Arial"/>
              </a:rPr>
              <a:t>Format: &lt;EXACT SHAPE OF THE ANSWER - length, sections, table columns&gt;.</a:t>
            </a:r>
          </a:p>
          <a:p>
            <a:pPr algn="l">
              <a:spcAft>
                <a:spcPts val="200"/>
              </a:spcAft>
            </a:pPr>
            <a:r>
              <a:rPr sz="1300" b="0">
                <a:solidFill>
                  <a:srgbClr val="9CDCFE"/>
                </a:solidFill>
                <a:latin typeface="Arial"/>
              </a:rPr>
              <a:t>Constraints: &lt;BRAND VOICE&gt;, no claims outside the context above, say so if information is missing.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Brief an AI Assistant Like a Retail Manager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Open a fresh chat, paste your house template, and fill the placeholders with a DIFFERENT product from products.csv. The answer must come back in exactly the format you specified - the right length and the right number of bullets - with no correction needed from you. If you had to fix the shape of the answer, your Format and Constraints lines are still too loose: tighten them and run it again.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 Product Catalogue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900" b="0">
                <a:solidFill>
                  <a:srgbClr val="161B26"/>
                </a:solidFill>
                <a:latin typeface="Arial"/>
              </a:rPr>
              <a:t>Turn a row of a spreadsheet into web-ready product content. You will ground the assistant in the Bloom &amp; Brew catalogue and brand voice guide, generate descriptions, feature bullets and SEO metadata for five SKUs in a single pass, then fact-check every claim back to the source file and fix the tone in one correction prompt rather than by hand.</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Web-ready descriptions, feature bullets, SEO titles and meta descriptions for five SKUs, in brand voice, as a table you can paste into a product feed.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or Claude, labs/resources/products.csv, labs/resources/brand_voice.md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 Product Catalogue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2926080"/>
          </a:xfrm>
          <a:prstGeom prst="rect">
            <a:avLst/>
          </a:prstGeom>
          <a:noFill/>
        </p:spPr>
        <p:txBody>
          <a:bodyPr wrap="square" anchor="ctr">
            <a:spAutoFit/>
          </a:bodyPr>
          <a:lstStyle/>
          <a:p>
            <a:pPr algn="l">
              <a:spcAft>
                <a:spcPts val="400"/>
              </a:spcAft>
            </a:pPr>
            <a:r>
              <a:rPr sz="2300" b="0">
                <a:solidFill>
                  <a:srgbClr val="161B26"/>
                </a:solidFill>
                <a:latin typeface="Arial"/>
              </a:rPr>
              <a:t>Open products.csv and brand_voice.md, and choose five SKUs from at least three different categories.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 Product Catalogue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2926080"/>
          </a:xfrm>
          <a:prstGeom prst="rect">
            <a:avLst/>
          </a:prstGeom>
          <a:noFill/>
        </p:spPr>
        <p:txBody>
          <a:bodyPr wrap="square" anchor="ctr">
            <a:spAutoFit/>
          </a:bodyPr>
          <a:lstStyle/>
          <a:p>
            <a:pPr algn="l">
              <a:spcAft>
                <a:spcPts val="400"/>
              </a:spcAft>
            </a:pPr>
            <a:r>
              <a:rPr sz="2300" b="0">
                <a:solidFill>
                  <a:srgbClr val="161B26"/>
                </a:solidFill>
                <a:latin typeface="Arial"/>
              </a:rPr>
              <a:t>Attach both files to a new chat so the assistant writes from your catalogue instead of from guesswork.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 Product Catalogue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Ask for description, bullets and SEO metadata for all five SKUs in one table, in one pass.</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17998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1580388"/>
          </a:xfrm>
          <a:prstGeom prst="rect">
            <a:avLst/>
          </a:prstGeom>
          <a:noFill/>
        </p:spPr>
        <p:txBody>
          <a:bodyPr wrap="square" anchor="t">
            <a:spAutoFit/>
          </a:bodyPr>
          <a:lstStyle/>
          <a:p>
            <a:pPr algn="l">
              <a:spcAft>
                <a:spcPts val="200"/>
              </a:spcAft>
            </a:pPr>
            <a:r>
              <a:rPr sz="1300" b="0">
                <a:solidFill>
                  <a:srgbClr val="9CDCFE"/>
                </a:solidFill>
                <a:latin typeface="Arial"/>
              </a:rPr>
              <a:t>Role: you are a senior retail copywriter for Bloom &amp; Brew.</a:t>
            </a:r>
          </a:p>
          <a:p>
            <a:pPr algn="l">
              <a:spcAft>
                <a:spcPts val="200"/>
              </a:spcAft>
            </a:pPr>
            <a:r>
              <a:rPr sz="1300" b="0">
                <a:solidFill>
                  <a:srgbClr val="9CDCFE"/>
                </a:solidFill>
                <a:latin typeface="Arial"/>
              </a:rPr>
              <a:t>Context: use the attached products.csv for the facts and brand_voice.md for the tone. Nothing else.</a:t>
            </a:r>
          </a:p>
          <a:p>
            <a:pPr algn="l">
              <a:spcAft>
                <a:spcPts val="200"/>
              </a:spcAft>
            </a:pPr>
            <a:r>
              <a:rPr sz="1300" b="0">
                <a:solidFill>
                  <a:srgbClr val="9CDCFE"/>
                </a:solidFill>
                <a:latin typeface="Arial"/>
              </a:rPr>
              <a:t>Task: write web copy for these five SKUs: &lt;SKU1&gt;, &lt;SKU2&gt;, &lt;SKU3&gt;, &lt;SKU4&gt;, &lt;SKU5&gt;.</a:t>
            </a:r>
          </a:p>
          <a:p>
            <a:pPr algn="l">
              <a:spcAft>
                <a:spcPts val="200"/>
              </a:spcAft>
            </a:pPr>
            <a:r>
              <a:rPr sz="1300" b="0">
                <a:solidFill>
                  <a:srgbClr val="9CDCFE"/>
                </a:solidFill>
                <a:latin typeface="Arial"/>
              </a:rPr>
              <a:t>Format: one markdown table. Columns: SKU | Description (55-65 words) | Five feature bullets | SEO title (max 60 characters) | Meta description (max 155 characters).</a:t>
            </a:r>
          </a:p>
          <a:p>
            <a:pPr algn="l">
              <a:spcAft>
                <a:spcPts val="200"/>
              </a:spcAft>
            </a:pPr>
            <a:r>
              <a:rPr sz="1300" b="0">
                <a:solidFill>
                  <a:srgbClr val="9CDCFE"/>
                </a:solidFill>
                <a:latin typeface="Arial"/>
              </a:rPr>
              <a:t>Constraints: British English; use only facts present in products.csv; no invented materials, origins or awards; no superlatives; if a fact is missing write MISSING.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 Product Catalogue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2926080"/>
          </a:xfrm>
          <a:prstGeom prst="rect">
            <a:avLst/>
          </a:prstGeom>
          <a:noFill/>
        </p:spPr>
        <p:txBody>
          <a:bodyPr wrap="square" anchor="ctr">
            <a:spAutoFit/>
          </a:bodyPr>
          <a:lstStyle/>
          <a:p>
            <a:pPr algn="l">
              <a:spcAft>
                <a:spcPts val="400"/>
              </a:spcAft>
            </a:pPr>
            <a:r>
              <a:rPr sz="2300" b="0">
                <a:solidFill>
                  <a:srgbClr val="161B26"/>
                </a:solidFill>
                <a:latin typeface="Arial"/>
              </a:rPr>
              <a:t>Fact-check every claim: read each description against the SKU's row and strike out anything the file does not support.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 Product Catalogue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Correct the tone in one pass by naming what is wrong, instead of rewriting the copy yourself.</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114604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926592"/>
          </a:xfrm>
          <a:prstGeom prst="rect">
            <a:avLst/>
          </a:prstGeom>
          <a:noFill/>
        </p:spPr>
        <p:txBody>
          <a:bodyPr wrap="square" anchor="t">
            <a:spAutoFit/>
          </a:bodyPr>
          <a:lstStyle/>
          <a:p>
            <a:pPr algn="l">
              <a:spcAft>
                <a:spcPts val="200"/>
              </a:spcAft>
            </a:pPr>
            <a:r>
              <a:rPr sz="1300" b="0">
                <a:solidFill>
                  <a:srgbClr val="9CDCFE"/>
                </a:solidFill>
                <a:latin typeface="Arial"/>
              </a:rPr>
              <a:t>Rows 2 and 4 drift from the brand voice guide: they use superlatives and exclamation marks.</a:t>
            </a:r>
          </a:p>
          <a:p>
            <a:pPr algn="l">
              <a:spcAft>
                <a:spcPts val="200"/>
              </a:spcAft>
            </a:pPr>
            <a:r>
              <a:rPr sz="1300" b="0">
                <a:solidFill>
                  <a:srgbClr val="9CDCFE"/>
                </a:solidFill>
                <a:latin typeface="Arial"/>
              </a:rPr>
              <a:t>Rewrite ONLY those two descriptions to match brand_voice.md. Keep the word count, the bullets and the metadata unchanged.</a:t>
            </a:r>
          </a:p>
          <a:p>
            <a:pPr algn="l">
              <a:spcAft>
                <a:spcPts val="200"/>
              </a:spcAft>
            </a:pPr>
            <a:r>
              <a:rPr sz="1300" b="0">
                <a:solidFill>
                  <a:srgbClr val="9CDCFE"/>
                </a:solidFill>
                <a:latin typeface="Arial"/>
              </a:rPr>
              <a:t>Return the corrected rows only, in the same table format.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 Product Catalogue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2926080"/>
          </a:xfrm>
          <a:prstGeom prst="rect">
            <a:avLst/>
          </a:prstGeom>
          <a:noFill/>
        </p:spPr>
        <p:txBody>
          <a:bodyPr wrap="square" anchor="ctr">
            <a:spAutoFit/>
          </a:bodyPr>
          <a:lstStyle/>
          <a:p>
            <a:pPr algn="l">
              <a:spcAft>
                <a:spcPts val="400"/>
              </a:spcAft>
            </a:pPr>
            <a:r>
              <a:rPr sz="2300" b="0">
                <a:solidFill>
                  <a:srgbClr val="161B26"/>
                </a:solidFill>
                <a:latin typeface="Arial"/>
              </a:rPr>
              <a:t>Paste the finished table into your product sheet, and save the prompt that produced it into your prompt library.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 Product Catalogue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Pick one finished description and trace every claim in it to a column in products.csv. If a claim has no column behind it, the copy is not publishable - delete or correct it, then add the missing rule to your Constraints line so the next batch does not repeat it. A clean pass means every sentence is supported by data.</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Campaign Copy and AI Product Visuals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900" b="0">
                <a:solidFill>
                  <a:srgbClr val="161B26"/>
                </a:solidFill>
                <a:latin typeface="Arial"/>
              </a:rPr>
              <a:t>Build one seasonal promotion end to end. You will brief the campaign from the Bloom &amp; Brew catalogue, generate email subject lines and body copy, three social captions and an in-store poster headline, then create a product visual with an image model and iterate it one variable at a time. The lab ends with the pre-publication check every AI-assisted campaign needs.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A complete mini-campaign - email, three social captions, a poster headline and an AI-generated product visual - for one seasonal promotion.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or Claude, an image model (ChatGPT image generation, Gemini or Copilot Designer), labs/resources/products.csv</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Campaign Copy and AI Product Visuals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2926080"/>
          </a:xfrm>
          <a:prstGeom prst="rect">
            <a:avLst/>
          </a:prstGeom>
          <a:noFill/>
        </p:spPr>
        <p:txBody>
          <a:bodyPr wrap="square" anchor="ctr">
            <a:spAutoFit/>
          </a:bodyPr>
          <a:lstStyle/>
          <a:p>
            <a:pPr algn="l">
              <a:spcAft>
                <a:spcPts val="400"/>
              </a:spcAft>
            </a:pPr>
            <a:r>
              <a:rPr sz="2300" b="0">
                <a:solidFill>
                  <a:srgbClr val="161B26"/>
                </a:solidFill>
                <a:latin typeface="Arial"/>
              </a:rPr>
              <a:t>Choose the promotion: pick one category from products.csv, set the offer and the dates, and name the audience.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Campaign Copy and AI Product Visuals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Brief the whole campaign in one prompt so every asset shares the same offer and voice.</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223570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2016252"/>
          </a:xfrm>
          <a:prstGeom prst="rect">
            <a:avLst/>
          </a:prstGeom>
          <a:noFill/>
        </p:spPr>
        <p:txBody>
          <a:bodyPr wrap="square" anchor="t">
            <a:spAutoFit/>
          </a:bodyPr>
          <a:lstStyle/>
          <a:p>
            <a:pPr algn="l">
              <a:spcAft>
                <a:spcPts val="200"/>
              </a:spcAft>
            </a:pPr>
            <a:r>
              <a:rPr sz="1300" b="0">
                <a:solidFill>
                  <a:srgbClr val="9CDCFE"/>
                </a:solidFill>
                <a:latin typeface="Arial"/>
              </a:rPr>
              <a:t>Role: you are a retail marketing lead for Bloom &amp; Brew.</a:t>
            </a:r>
          </a:p>
          <a:p>
            <a:pPr algn="l">
              <a:spcAft>
                <a:spcPts val="200"/>
              </a:spcAft>
            </a:pPr>
            <a:r>
              <a:rPr sz="1300" b="0">
                <a:solidFill>
                  <a:srgbClr val="9CDCFE"/>
                </a:solidFill>
                <a:latin typeface="Arial"/>
              </a:rPr>
              <a:t>Context: promotion is &lt;OFFER&gt; on &lt;CATEGORY&gt;, running &lt;START DATE&gt; to &lt;END DATE&gt;, aimed at &lt;AUDIENCE&gt;. Product facts come from the attached products.csv; tone from brand_voice.md.</a:t>
            </a:r>
          </a:p>
          <a:p>
            <a:pPr algn="l">
              <a:spcAft>
                <a:spcPts val="200"/>
              </a:spcAft>
            </a:pPr>
            <a:r>
              <a:rPr sz="1300" b="0">
                <a:solidFill>
                  <a:srgbClr val="9CDCFE"/>
                </a:solidFill>
                <a:latin typeface="Arial"/>
              </a:rPr>
              <a:t>Task: produce the full campaign kit.</a:t>
            </a:r>
          </a:p>
          <a:p>
            <a:pPr algn="l">
              <a:spcAft>
                <a:spcPts val="200"/>
              </a:spcAft>
            </a:pPr>
            <a:r>
              <a:rPr sz="1300" b="0">
                <a:solidFill>
                  <a:srgbClr val="9CDCFE"/>
                </a:solidFill>
                <a:latin typeface="Arial"/>
              </a:rPr>
              <a:t>Format: (1) three email subject lines, each max 45 characters; (2) one email body of 120-150 words with a single call to action; (3) three social captions, each under 220 characters with two hashtags; (4) one in-store poster headline of no more than six words.</a:t>
            </a:r>
          </a:p>
          <a:p>
            <a:pPr algn="l">
              <a:spcAft>
                <a:spcPts val="200"/>
              </a:spcAft>
            </a:pPr>
            <a:r>
              <a:rPr sz="1300" b="0">
                <a:solidFill>
                  <a:srgbClr val="9CDCFE"/>
                </a:solidFill>
                <a:latin typeface="Arial"/>
              </a:rPr>
              <a:t>Constraints: state the offer and the end date in every asset; no superlatives; no claims outside products.csv; British English.</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Campaign Copy and AI Product Visuals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Push the subject lines further by asking for distinct angles rather than more variants.</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7101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490727"/>
          </a:xfrm>
          <a:prstGeom prst="rect">
            <a:avLst/>
          </a:prstGeom>
          <a:noFill/>
        </p:spPr>
        <p:txBody>
          <a:bodyPr wrap="square" anchor="t">
            <a:spAutoFit/>
          </a:bodyPr>
          <a:lstStyle/>
          <a:p>
            <a:pPr algn="l">
              <a:spcAft>
                <a:spcPts val="200"/>
              </a:spcAft>
            </a:pPr>
            <a:r>
              <a:rPr sz="1300" b="0">
                <a:solidFill>
                  <a:srgbClr val="9CDCFE"/>
                </a:solidFill>
                <a:latin typeface="Arial"/>
              </a:rPr>
              <a:t>Rewrite the three subject lines so each takes a DIFFERENT angle: one urgency, one benefit, one curiosity.</a:t>
            </a:r>
          </a:p>
          <a:p>
            <a:pPr algn="l">
              <a:spcAft>
                <a:spcPts val="200"/>
              </a:spcAft>
            </a:pPr>
            <a:r>
              <a:rPr sz="1300" b="0">
                <a:solidFill>
                  <a:srgbClr val="9CDCFE"/>
                </a:solidFill>
                <a:latin typeface="Arial"/>
              </a:rPr>
              <a:t>Keep each under 45 characters and include the character count in brackets after each line.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Campaign Copy and AI Product Visuals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Generate the product visual with an image prompt that names the subject, setting, light and framing.</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1581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1362456"/>
          </a:xfrm>
          <a:prstGeom prst="rect">
            <a:avLst/>
          </a:prstGeom>
          <a:noFill/>
        </p:spPr>
        <p:txBody>
          <a:bodyPr wrap="square" anchor="t">
            <a:spAutoFit/>
          </a:bodyPr>
          <a:lstStyle/>
          <a:p>
            <a:pPr algn="l">
              <a:spcAft>
                <a:spcPts val="200"/>
              </a:spcAft>
            </a:pPr>
            <a:r>
              <a:rPr sz="1300" b="0">
                <a:solidFill>
                  <a:srgbClr val="9CDCFE"/>
                </a:solidFill>
                <a:latin typeface="Arial"/>
              </a:rPr>
              <a:t>Create a photorealistic lifestyle image for a retail promotion.</a:t>
            </a:r>
          </a:p>
          <a:p>
            <a:pPr algn="l">
              <a:spcAft>
                <a:spcPts val="200"/>
              </a:spcAft>
            </a:pPr>
            <a:r>
              <a:rPr sz="1300" b="0">
                <a:solidFill>
                  <a:srgbClr val="9CDCFE"/>
                </a:solidFill>
                <a:latin typeface="Arial"/>
              </a:rPr>
              <a:t>Subject: a &lt;PRODUCT&gt; on a pale oak table, styled with a linen napkin and dried eucalyptus.</a:t>
            </a:r>
          </a:p>
          <a:p>
            <a:pPr algn="l">
              <a:spcAft>
                <a:spcPts val="200"/>
              </a:spcAft>
            </a:pPr>
            <a:r>
              <a:rPr sz="1300" b="0">
                <a:solidFill>
                  <a:srgbClr val="9CDCFE"/>
                </a:solidFill>
                <a:latin typeface="Arial"/>
              </a:rPr>
              <a:t>Setting: a bright Scandinavian-style cafe corner, soft morning light from the left, shallow depth of field.</a:t>
            </a:r>
          </a:p>
          <a:p>
            <a:pPr algn="l">
              <a:spcAft>
                <a:spcPts val="200"/>
              </a:spcAft>
            </a:pPr>
            <a:r>
              <a:rPr sz="1300" b="0">
                <a:solidFill>
                  <a:srgbClr val="9CDCFE"/>
                </a:solidFill>
                <a:latin typeface="Arial"/>
              </a:rPr>
              <a:t>Framing: 4:5 portrait, product in the lower third, clean negative space at the top for a headline.</a:t>
            </a:r>
          </a:p>
          <a:p>
            <a:pPr algn="l">
              <a:spcAft>
                <a:spcPts val="200"/>
              </a:spcAft>
            </a:pPr>
            <a:r>
              <a:rPr sz="1300" b="0">
                <a:solidFill>
                  <a:srgbClr val="9CDCFE"/>
                </a:solidFill>
                <a:latin typeface="Arial"/>
              </a:rPr>
              <a:t>Constraints: no text, no logos, no human faces, no brand marks on the product.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Campaign Copy and AI Product Visuals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Iterate the image by changing ONE variable at a time - light, angle, styling or crop - never all at once.</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7101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490727"/>
          </a:xfrm>
          <a:prstGeom prst="rect">
            <a:avLst/>
          </a:prstGeom>
          <a:noFill/>
        </p:spPr>
        <p:txBody>
          <a:bodyPr wrap="square" anchor="t">
            <a:spAutoFit/>
          </a:bodyPr>
          <a:lstStyle/>
          <a:p>
            <a:pPr algn="l">
              <a:spcAft>
                <a:spcPts val="200"/>
              </a:spcAft>
            </a:pPr>
            <a:r>
              <a:rPr sz="1300" b="0">
                <a:solidFill>
                  <a:srgbClr val="9CDCFE"/>
                </a:solidFill>
                <a:latin typeface="Arial"/>
              </a:rPr>
              <a:t>Keep everything the same, change only the light: warm late-afternoon light from the right instead of morning light from the left.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Campaign Copy and AI Product Visuals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Run the pre-publication check on the whole kit before anything goes live.</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1581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1362456"/>
          </a:xfrm>
          <a:prstGeom prst="rect">
            <a:avLst/>
          </a:prstGeom>
          <a:noFill/>
        </p:spPr>
        <p:txBody>
          <a:bodyPr wrap="square" anchor="t">
            <a:spAutoFit/>
          </a:bodyPr>
          <a:lstStyle/>
          <a:p>
            <a:pPr algn="l">
              <a:spcAft>
                <a:spcPts val="200"/>
              </a:spcAft>
            </a:pPr>
            <a:r>
              <a:rPr sz="1300" b="0">
                <a:solidFill>
                  <a:srgbClr val="9CDCFE"/>
                </a:solidFill>
                <a:latin typeface="Arial"/>
              </a:rPr>
              <a:t>Check this campaign kit and list every issue as a numbered fix list:</a:t>
            </a:r>
          </a:p>
          <a:p>
            <a:pPr algn="l">
              <a:spcAft>
                <a:spcPts val="200"/>
              </a:spcAft>
            </a:pPr>
            <a:r>
              <a:rPr sz="1300" b="0">
                <a:solidFill>
                  <a:srgbClr val="9CDCFE"/>
                </a:solidFill>
                <a:latin typeface="Arial"/>
              </a:rPr>
              <a:t>1. Any claim not supported by products.csv.</a:t>
            </a:r>
          </a:p>
          <a:p>
            <a:pPr algn="l">
              <a:spcAft>
                <a:spcPts val="200"/>
              </a:spcAft>
            </a:pPr>
            <a:r>
              <a:rPr sz="1300" b="0">
                <a:solidFill>
                  <a:srgbClr val="9CDCFE"/>
                </a:solidFill>
                <a:latin typeface="Arial"/>
              </a:rPr>
              <a:t>2. Any price, discount or date that is inconsistent between assets.</a:t>
            </a:r>
          </a:p>
          <a:p>
            <a:pPr algn="l">
              <a:spcAft>
                <a:spcPts val="200"/>
              </a:spcAft>
            </a:pPr>
            <a:r>
              <a:rPr sz="1300" b="0">
                <a:solidFill>
                  <a:srgbClr val="9CDCFE"/>
                </a:solidFill>
                <a:latin typeface="Arial"/>
              </a:rPr>
              <a:t>3. Any line that breaks brand_voice.md.</a:t>
            </a:r>
          </a:p>
          <a:p>
            <a:pPr algn="l">
              <a:spcAft>
                <a:spcPts val="200"/>
              </a:spcAft>
            </a:pPr>
            <a:r>
              <a:rPr sz="1300" b="0">
                <a:solidFill>
                  <a:srgbClr val="9CDCFE"/>
                </a:solidFill>
                <a:latin typeface="Arial"/>
              </a:rPr>
              <a:t>4. Anything that would need a disclosure because the image is AI-generated.</a:t>
            </a:r>
          </a:p>
          <a:p>
            <a:pPr algn="l">
              <a:spcAft>
                <a:spcPts val="200"/>
              </a:spcAft>
            </a:pPr>
            <a:r>
              <a:rPr sz="1300" b="0">
                <a:solidFill>
                  <a:srgbClr val="9CDCFE"/>
                </a:solidFill>
                <a:latin typeface="Arial"/>
              </a:rPr>
              <a:t>Return only the issues and the fix for each - do not rewrite the campaign.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Campaign Copy and AI Product Visuals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Read the campaign aloud as a customer would meet it: subject line, then email, then a social caption, then the poster. The offer, the discount and the end date must be identical in all four, and every product claim must trace to products.csv. One inconsistency between assets means the kit is not ready to schedule.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Customer Data Privacy and Responsible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900" b="0">
                <a:solidFill>
                  <a:srgbClr val="161B26"/>
                </a:solidFill>
                <a:latin typeface="Arial"/>
              </a:rPr>
              <a:t>Before AI touches customer data, someone has to decide what it may see. You will classify the columns in the Bloom &amp; Brew customer and transaction files, build an anonymised extract that is safe to paste into a public AI tool, draft a one-page AI usage policy for the store team, then red-team that policy to find what it fails to cover.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An anonymised data extract that is safe to use with a public AI tool, plus a one-page AI usage policy for your store team.</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or Claude, a spreadsheet, labs/resources/customers.csv, labs/resources/transactions.csv</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Customer Data Privacy and Responsible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2926080"/>
          </a:xfrm>
          <a:prstGeom prst="rect">
            <a:avLst/>
          </a:prstGeom>
          <a:noFill/>
        </p:spPr>
        <p:txBody>
          <a:bodyPr wrap="square" anchor="ctr">
            <a:spAutoFit/>
          </a:bodyPr>
          <a:lstStyle/>
          <a:p>
            <a:pPr algn="l">
              <a:spcAft>
                <a:spcPts val="400"/>
              </a:spcAft>
            </a:pPr>
            <a:r>
              <a:rPr sz="2300" b="0">
                <a:solidFill>
                  <a:srgbClr val="161B26"/>
                </a:solidFill>
                <a:latin typeface="Arial"/>
              </a:rPr>
              <a:t>Open customers.csv and transactions.csv and mark every column that could identify a real person.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Customer Data Privacy and Responsible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Ask the assistant to classify the columns - paste only the header row, never the customer data itself.</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20177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1798320"/>
          </a:xfrm>
          <a:prstGeom prst="rect">
            <a:avLst/>
          </a:prstGeom>
          <a:noFill/>
        </p:spPr>
        <p:txBody>
          <a:bodyPr wrap="square" anchor="t">
            <a:spAutoFit/>
          </a:bodyPr>
          <a:lstStyle/>
          <a:p>
            <a:pPr algn="l">
              <a:spcAft>
                <a:spcPts val="200"/>
              </a:spcAft>
            </a:pPr>
            <a:r>
              <a:rPr sz="1300" b="0">
                <a:solidFill>
                  <a:srgbClr val="9CDCFE"/>
                </a:solidFill>
                <a:latin typeface="Arial"/>
              </a:rPr>
              <a:t>Role: you are a data protection adviser to a retail business in Singapore.</a:t>
            </a:r>
          </a:p>
          <a:p>
            <a:pPr algn="l">
              <a:spcAft>
                <a:spcPts val="200"/>
              </a:spcAft>
            </a:pPr>
            <a:r>
              <a:rPr sz="1300" b="0">
                <a:solidFill>
                  <a:srgbClr val="9CDCFE"/>
                </a:solidFill>
                <a:latin typeface="Arial"/>
              </a:rPr>
              <a:t>Context: these are the column headers of two customer files. I have deliberately not pasted any data.</a:t>
            </a:r>
          </a:p>
          <a:p>
            <a:pPr algn="l">
              <a:spcAft>
                <a:spcPts val="200"/>
              </a:spcAft>
            </a:pPr>
            <a:r>
              <a:rPr sz="1300" b="0">
                <a:solidFill>
                  <a:srgbClr val="9CDCFE"/>
                </a:solidFill>
                <a:latin typeface="Arial"/>
              </a:rPr>
              <a:t>customers.csv: customer_id, full_name, email, phone, postal_code, join_date, loyalty_tier, marketing_optin</a:t>
            </a:r>
          </a:p>
          <a:p>
            <a:pPr algn="l">
              <a:spcAft>
                <a:spcPts val="200"/>
              </a:spcAft>
            </a:pPr>
            <a:r>
              <a:rPr sz="1300" b="0">
                <a:solidFill>
                  <a:srgbClr val="9CDCFE"/>
                </a:solidFill>
                <a:latin typeface="Arial"/>
              </a:rPr>
              <a:t>transactions.csv: order_id, order_date, customer_id, sku, qty, unit_price, channel, store</a:t>
            </a:r>
          </a:p>
          <a:p>
            <a:pPr algn="l">
              <a:spcAft>
                <a:spcPts val="200"/>
              </a:spcAft>
            </a:pPr>
            <a:r>
              <a:rPr sz="1300" b="0">
                <a:solidFill>
                  <a:srgbClr val="9CDCFE"/>
                </a:solidFill>
                <a:latin typeface="Arial"/>
              </a:rPr>
              <a:t>Task: classify every column as SAFE, IDENTIFYING or SENSITIVE for use with a public AI tool.</a:t>
            </a:r>
          </a:p>
          <a:p>
            <a:pPr algn="l">
              <a:spcAft>
                <a:spcPts val="200"/>
              </a:spcAft>
            </a:pPr>
            <a:r>
              <a:rPr sz="1300" b="0">
                <a:solidFill>
                  <a:srgbClr val="9CDCFE"/>
                </a:solidFill>
                <a:latin typeface="Arial"/>
              </a:rPr>
              <a:t>Format: a table of column, classification, one-line reason, and the action to take before any AI use.</a:t>
            </a:r>
          </a:p>
          <a:p>
            <a:pPr algn="l">
              <a:spcAft>
                <a:spcPts val="200"/>
              </a:spcAft>
            </a:pPr>
            <a:r>
              <a:rPr sz="1300" b="0">
                <a:solidFill>
                  <a:srgbClr val="9CDCFE"/>
                </a:solidFill>
                <a:latin typeface="Arial"/>
              </a:rPr>
              <a:t>Constraints: be conservative - if a column could re-identify someone in combination with another, say so.</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Customer Data Privacy and Responsible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2926080"/>
          </a:xfrm>
          <a:prstGeom prst="rect">
            <a:avLst/>
          </a:prstGeom>
          <a:noFill/>
        </p:spPr>
        <p:txBody>
          <a:bodyPr wrap="square" anchor="ctr">
            <a:spAutoFit/>
          </a:bodyPr>
          <a:lstStyle/>
          <a:p>
            <a:pPr algn="l">
              <a:spcAft>
                <a:spcPts val="400"/>
              </a:spcAft>
            </a:pPr>
            <a:r>
              <a:rPr sz="2300" b="0">
                <a:solidFill>
                  <a:srgbClr val="161B26"/>
                </a:solidFill>
                <a:latin typeface="Arial"/>
              </a:rPr>
              <a:t>In the spreadsheet, build the anonymised extract: delete the identifying columns, renumber the customers and keep only the month.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Customer Data Privacy and Responsible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Draft the store's one-page AI usage policy from your own classification work.</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20177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1798320"/>
          </a:xfrm>
          <a:prstGeom prst="rect">
            <a:avLst/>
          </a:prstGeom>
          <a:noFill/>
        </p:spPr>
        <p:txBody>
          <a:bodyPr wrap="square" anchor="t">
            <a:spAutoFit/>
          </a:bodyPr>
          <a:lstStyle/>
          <a:p>
            <a:pPr algn="l">
              <a:spcAft>
                <a:spcPts val="200"/>
              </a:spcAft>
            </a:pPr>
            <a:r>
              <a:rPr sz="1300" b="0">
                <a:solidFill>
                  <a:srgbClr val="9CDCFE"/>
                </a:solidFill>
                <a:latin typeface="Arial"/>
              </a:rPr>
              <a:t>Role: you are writing an internal policy for a six-outlet specialty retailer.</a:t>
            </a:r>
          </a:p>
          <a:p>
            <a:pPr algn="l">
              <a:spcAft>
                <a:spcPts val="200"/>
              </a:spcAft>
            </a:pPr>
            <a:r>
              <a:rPr sz="1300" b="0">
                <a:solidFill>
                  <a:srgbClr val="9CDCFE"/>
                </a:solidFill>
                <a:latin typeface="Arial"/>
              </a:rPr>
              <a:t>Context: staff use public AI assistants for product copy, customer replies and sales analysis. The column classification above is our starting point.</a:t>
            </a:r>
          </a:p>
          <a:p>
            <a:pPr algn="l">
              <a:spcAft>
                <a:spcPts val="200"/>
              </a:spcAft>
            </a:pPr>
            <a:r>
              <a:rPr sz="1300" b="0">
                <a:solidFill>
                  <a:srgbClr val="9CDCFE"/>
                </a:solidFill>
                <a:latin typeface="Arial"/>
              </a:rPr>
              <a:t>Task: write a one-page AI usage policy the store team will actually follow.</a:t>
            </a:r>
          </a:p>
          <a:p>
            <a:pPr algn="l">
              <a:spcAft>
                <a:spcPts val="200"/>
              </a:spcAft>
            </a:pPr>
            <a:r>
              <a:rPr sz="1300" b="0">
                <a:solidFill>
                  <a:srgbClr val="9CDCFE"/>
                </a:solidFill>
                <a:latin typeface="Arial"/>
              </a:rPr>
              <a:t>Format: sections for (1) what may never be pasted into an AI tool, (2) what must be anonymised first, (3) which outputs need human approval before use, (4) who to ask when unsure. Bullet points, plain English, no legal jargon.</a:t>
            </a:r>
          </a:p>
          <a:p>
            <a:pPr algn="l">
              <a:spcAft>
                <a:spcPts val="200"/>
              </a:spcAft>
            </a:pPr>
            <a:r>
              <a:rPr sz="1300" b="0">
                <a:solidFill>
                  <a:srgbClr val="9CDCFE"/>
                </a:solidFill>
                <a:latin typeface="Arial"/>
              </a:rPr>
              <a:t>Constraints: maximum 400 words; every rule must be checkable by a shop-floor supervisor.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Customer Data Privacy and Responsible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Red-team the policy: ask the assistant to find the realistic ways a busy team would breach it.</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13639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1144524"/>
          </a:xfrm>
          <a:prstGeom prst="rect">
            <a:avLst/>
          </a:prstGeom>
          <a:noFill/>
        </p:spPr>
        <p:txBody>
          <a:bodyPr wrap="square" anchor="t">
            <a:spAutoFit/>
          </a:bodyPr>
          <a:lstStyle/>
          <a:p>
            <a:pPr algn="l">
              <a:spcAft>
                <a:spcPts val="200"/>
              </a:spcAft>
            </a:pPr>
            <a:r>
              <a:rPr sz="1300" b="0">
                <a:solidFill>
                  <a:srgbClr val="9CDCFE"/>
                </a:solidFill>
                <a:latin typeface="Arial"/>
              </a:rPr>
              <a:t>You are a sceptical store manager under time pressure.</a:t>
            </a:r>
          </a:p>
          <a:p>
            <a:pPr algn="l">
              <a:spcAft>
                <a:spcPts val="200"/>
              </a:spcAft>
            </a:pPr>
            <a:r>
              <a:rPr sz="1300" b="0">
                <a:solidFill>
                  <a:srgbClr val="9CDCFE"/>
                </a:solidFill>
                <a:latin typeface="Arial"/>
              </a:rPr>
              <a:t>Task: list the five most likely ways this policy gets broken in a real store on a busy Saturday, and the smallest change to the policy that would prevent each one.</a:t>
            </a:r>
          </a:p>
          <a:p>
            <a:pPr algn="l">
              <a:spcAft>
                <a:spcPts val="200"/>
              </a:spcAft>
            </a:pPr>
            <a:r>
              <a:rPr sz="1300" b="0">
                <a:solidFill>
                  <a:srgbClr val="9CDCFE"/>
                </a:solidFill>
                <a:latin typeface="Arial"/>
              </a:rPr>
              <a:t>Format: a table of scenario, why it happens, policy fix.</a:t>
            </a:r>
          </a:p>
          <a:p>
            <a:pPr algn="l">
              <a:spcAft>
                <a:spcPts val="200"/>
              </a:spcAft>
            </a:pPr>
            <a:r>
              <a:rPr sz="1300" b="0">
                <a:solidFill>
                  <a:srgbClr val="9CDCFE"/>
                </a:solidFill>
                <a:latin typeface="Arial"/>
              </a:rPr>
              <a:t>Constraints: realistic retail scenarios only - no hypothetical attackers.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Customer Data Privacy and Responsible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2926080"/>
          </a:xfrm>
          <a:prstGeom prst="rect">
            <a:avLst/>
          </a:prstGeom>
          <a:noFill/>
        </p:spPr>
        <p:txBody>
          <a:bodyPr wrap="square" anchor="ctr">
            <a:spAutoFit/>
          </a:bodyPr>
          <a:lstStyle/>
          <a:p>
            <a:pPr algn="l">
              <a:spcAft>
                <a:spcPts val="400"/>
              </a:spcAft>
            </a:pPr>
            <a:r>
              <a:rPr sz="2300" b="0">
                <a:solidFill>
                  <a:srgbClr val="161B26"/>
                </a:solidFill>
                <a:latin typeface="Arial"/>
              </a:rPr>
              <a:t>Add the human-in-the-loop rule: name who approves AI output before it reaches a customer, a price or an order.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Customer Data Privacy and Responsible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Search your anonymised extract for '@', for a phone-number pattern and for any full name from the original file. All three searches must return zero hits - that is what makes the extract safe to paste into a public AI tool. If anything is still found, your column list in step 3 was incomplete; fix it and search again.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Introduction to AI for Retail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brief an AI assistant with the five-part prompt pattern and choose the right assistant for a retail task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produce on-brand product descriptions, feature bullets and SEO metadata from a product data file</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generate a complete promotional campaign and an AI product visual, then run a pre-publication check</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anonymise retail customer data before AI use and set the store's responsible-AI rules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Applying AI to Retail Operations and Customer Experience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AI-powered customer service  ·  personalised recommendations and promotions  ·  demand forecasting and inventory planning  ·  pricing, merchandising and sales analytics  ·  everyday AI workflows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Applying AI to Retail Operations and Customer Experience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service assistant grounded in your own FAQ, returns policy and product data answers accurately. An ungrounded one invents policy you will have to honour.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Personalisation starts with segmentation: group customers by how recently, how often and how much they buy, then let AI write the offer for each segment.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Demand forecasting turns sales history into a buying decision. AI is fastest at spotting trend, seasonality and the slow movers quietly tying up cash.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Pricing and markdown calls need margin maths plus judgement. AI surfaces the candidates and the trade-offs; the merchant still makes the decision.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Sales analytics with AI is conversational: ask in plain English, then verify the number against the source data before you act on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simple AI workflow is four parts - trigger, data, AI step, output - plus a human check. That is enough to automate a daily retail task with no code.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Applying AI to Retail Operations and Customer Experience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5–6</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 Grounded Store Service Assistant</a:t>
            </a:r>
          </a:p>
          <a:p>
            <a:pPr>
              <a:spcAft>
                <a:spcPts val="900"/>
              </a:spcAft>
            </a:pPr>
            <a:r>
              <a:rPr sz="1400" b="0">
                <a:solidFill>
                  <a:srgbClr val="161B26"/>
                </a:solidFill>
                <a:latin typeface="Arial"/>
              </a:rPr>
              <a:t>•  Personalised Recommendations and Targeted Promotions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7–8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Demand Forecasting and Inventory Planning with AI</a:t>
            </a:r>
          </a:p>
          <a:p>
            <a:pPr>
              <a:spcAft>
                <a:spcPts val="900"/>
              </a:spcAft>
            </a:pPr>
            <a:r>
              <a:rPr sz="1400" b="0">
                <a:solidFill>
                  <a:srgbClr val="161B26"/>
                </a:solidFill>
                <a:latin typeface="Arial"/>
              </a:rPr>
              <a:t>•  AI for Pricing, Merchandising and Sales Analytics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9</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 Simple AI Workflow for a Daily Retail Task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Grounded Store Service Assistant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900" b="0">
                <a:solidFill>
                  <a:srgbClr val="161B26"/>
                </a:solidFill>
                <a:latin typeface="Arial"/>
              </a:rPr>
              <a:t>An assistant that has read your returns policy answers correctly; one that has not will invent a policy you then have to honour. You will build a Bloom &amp; Brew service assistant grounded in the store policies, FAQ and product catalogue, give it tone and escalation rules, then test it against real customer enquiries - including one your policy does not cover.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A store customer-service assistant grounded in your own policies and FAQ, with a tested escalation rule for anything it cannot answer.</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Projects or Custom GPTs, or Claude Projects; labs/resources/store_policies.md, faq.md, products.csv, customer_feedback.csv</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Grounded Store Service Assistant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2926080"/>
          </a:xfrm>
          <a:prstGeom prst="rect">
            <a:avLst/>
          </a:prstGeom>
          <a:noFill/>
        </p:spPr>
        <p:txBody>
          <a:bodyPr wrap="square" anchor="ctr">
            <a:spAutoFit/>
          </a:bodyPr>
          <a:lstStyle/>
          <a:p>
            <a:pPr algn="l">
              <a:spcAft>
                <a:spcPts val="400"/>
              </a:spcAft>
            </a:pPr>
            <a:r>
              <a:rPr sz="2300" b="0">
                <a:solidFill>
                  <a:srgbClr val="161B26"/>
                </a:solidFill>
                <a:latin typeface="Arial"/>
              </a:rPr>
              <a:t>Create a new Project (Claude) or Custom GPT (ChatGPT) named 'Bloom &amp; Brew Service Assistant'.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Grounded Store Service Assistant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2926080"/>
          </a:xfrm>
          <a:prstGeom prst="rect">
            <a:avLst/>
          </a:prstGeom>
          <a:noFill/>
        </p:spPr>
        <p:txBody>
          <a:bodyPr wrap="square" anchor="ctr">
            <a:spAutoFit/>
          </a:bodyPr>
          <a:lstStyle/>
          <a:p>
            <a:pPr algn="l">
              <a:spcAft>
                <a:spcPts val="400"/>
              </a:spcAft>
            </a:pPr>
            <a:r>
              <a:rPr sz="2300" b="0">
                <a:solidFill>
                  <a:srgbClr val="161B26"/>
                </a:solidFill>
                <a:latin typeface="Arial"/>
              </a:rPr>
              <a:t>Add store_policies.md, faq.md and products.csv as the assistant's knowledge - this is what grounds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Grounded Store Service Assistant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Write the system instructions: role, tone, the grounding rule and the escalation rule.</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20177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1798320"/>
          </a:xfrm>
          <a:prstGeom prst="rect">
            <a:avLst/>
          </a:prstGeom>
          <a:noFill/>
        </p:spPr>
        <p:txBody>
          <a:bodyPr wrap="square" anchor="t">
            <a:spAutoFit/>
          </a:bodyPr>
          <a:lstStyle/>
          <a:p>
            <a:pPr algn="l">
              <a:spcAft>
                <a:spcPts val="200"/>
              </a:spcAft>
            </a:pPr>
            <a:r>
              <a:rPr sz="1300" b="0">
                <a:solidFill>
                  <a:srgbClr val="9CDCFE"/>
                </a:solidFill>
                <a:latin typeface="Arial"/>
              </a:rPr>
              <a:t>You are the customer service assistant for Bloom &amp; Brew, a specialty home, gift and coffee retailer with six outlets and an online store.</a:t>
            </a:r>
          </a:p>
          <a:p>
            <a:pPr algn="l">
              <a:spcAft>
                <a:spcPts val="200"/>
              </a:spcAft>
            </a:pPr>
            <a:r>
              <a:rPr sz="1300" b="0">
                <a:solidFill>
                  <a:srgbClr val="9CDCFE"/>
                </a:solidFill>
                <a:latin typeface="Arial"/>
              </a:rPr>
              <a:t>Answer ONLY from the attached store policies, FAQ and product catalogue.</a:t>
            </a:r>
          </a:p>
          <a:p>
            <a:pPr algn="l">
              <a:spcAft>
                <a:spcPts val="200"/>
              </a:spcAft>
            </a:pPr>
            <a:r>
              <a:rPr sz="1300" b="0">
                <a:solidFill>
                  <a:srgbClr val="9CDCFE"/>
                </a:solidFill>
                <a:latin typeface="Arial"/>
              </a:rPr>
              <a:t>If the answer is not in those documents, say: 'I'll pass this to a store colleague who can help' and state what information the colleague will need.</a:t>
            </a:r>
          </a:p>
          <a:p>
            <a:pPr algn="l">
              <a:spcAft>
                <a:spcPts val="200"/>
              </a:spcAft>
            </a:pPr>
            <a:r>
              <a:rPr sz="1300" b="0">
                <a:solidFill>
                  <a:srgbClr val="9CDCFE"/>
                </a:solidFill>
                <a:latin typeface="Arial"/>
              </a:rPr>
              <a:t>Never invent a policy, a price, a delivery date or a stock level.</a:t>
            </a:r>
          </a:p>
          <a:p>
            <a:pPr algn="l">
              <a:spcAft>
                <a:spcPts val="200"/>
              </a:spcAft>
            </a:pPr>
            <a:r>
              <a:rPr sz="1300" b="0">
                <a:solidFill>
                  <a:srgbClr val="9CDCFE"/>
                </a:solidFill>
                <a:latin typeface="Arial"/>
              </a:rPr>
              <a:t>Tone: warm, direct, British English, no more than 120 words per reply, no exclamation marks.</a:t>
            </a:r>
          </a:p>
          <a:p>
            <a:pPr algn="l">
              <a:spcAft>
                <a:spcPts val="200"/>
              </a:spcAft>
            </a:pPr>
            <a:r>
              <a:rPr sz="1300" b="0">
                <a:solidFill>
                  <a:srgbClr val="9CDCFE"/>
                </a:solidFill>
                <a:latin typeface="Arial"/>
              </a:rPr>
              <a:t>Always end a reply about a return, refund or exchange with the exact policy line it is based 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Grounded Store Service Assistant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Test it on six real enquiries taken from customer_feedback.csv, one at a time.</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7101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490727"/>
          </a:xfrm>
          <a:prstGeom prst="rect">
            <a:avLst/>
          </a:prstGeom>
          <a:noFill/>
        </p:spPr>
        <p:txBody>
          <a:bodyPr wrap="square" anchor="t">
            <a:spAutoFit/>
          </a:bodyPr>
          <a:lstStyle/>
          <a:p>
            <a:pPr algn="l">
              <a:spcAft>
                <a:spcPts val="200"/>
              </a:spcAft>
            </a:pPr>
            <a:r>
              <a:rPr sz="1300" b="0">
                <a:solidFill>
                  <a:srgbClr val="9CDCFE"/>
                </a:solidFill>
                <a:latin typeface="Arial"/>
              </a:rPr>
              <a:t>A customer bought the ceramic pour-over set 26 days ago, has the receipt, and wants to exchange it for a different colour. What do I tell them?</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Grounded Store Service Assistant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Test the escalation path with a question your policy deliberately does not cover.</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329184"/>
          </a:xfrm>
          <a:prstGeom prst="rect">
            <a:avLst/>
          </a:prstGeom>
          <a:noFill/>
        </p:spPr>
        <p:txBody>
          <a:bodyPr wrap="square" anchor="t">
            <a:spAutoFit/>
          </a:bodyPr>
          <a:lstStyle/>
          <a:p>
            <a:pPr algn="l">
              <a:spcAft>
                <a:spcPts val="200"/>
              </a:spcAft>
            </a:pPr>
            <a:r>
              <a:rPr sz="1300" b="0">
                <a:solidFill>
                  <a:srgbClr val="9CDCFE"/>
                </a:solidFill>
                <a:latin typeface="Arial"/>
              </a:rPr>
              <a:t>A customer is asking whether you will price-match a competitor's website. What do I tell them?</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Grounded Store Service Assistant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2926080"/>
          </a:xfrm>
          <a:prstGeom prst="rect">
            <a:avLst/>
          </a:prstGeom>
          <a:noFill/>
        </p:spPr>
        <p:txBody>
          <a:bodyPr wrap="square" anchor="ctr">
            <a:spAutoFit/>
          </a:bodyPr>
          <a:lstStyle/>
          <a:p>
            <a:pPr algn="l">
              <a:spcAft>
                <a:spcPts val="400"/>
              </a:spcAft>
            </a:pPr>
            <a:r>
              <a:rPr sz="2300" b="0">
                <a:solidFill>
                  <a:srgbClr val="161B26"/>
                </a:solidFill>
                <a:latin typeface="Arial"/>
              </a:rPr>
              <a:t>Tighten one weak answer by fixing the instructions, not by correcting the reply in the chat.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Grounded Store Service Assistant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Ask the assistant a question your store policies genuinely do not cover - competitor price matching, or a return at 45 days. It must decline, use your escalation wording and state what the colleague will need. If it invents a policy instead, it is not ready to face a customer: strengthen the grounding rule and re-test.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Personalised Recommendations and Targeted Promotions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900" b="0">
                <a:solidFill>
                  <a:srgbClr val="161B26"/>
                </a:solidFill>
                <a:latin typeface="Arial"/>
              </a:rPr>
              <a:t>Personalisation starts with segmentation, not with a clever message. You will group the Bloom &amp; Brew customers by how recently, how often and how much they buy, define four segments with a targeted offer and channel for each, then build next-best-product recommendations for three individual customers and check that the maths behind each offer still leaves a margin.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Four customer segments with a targeted offer, channel and message for each, plus next-best-product recommendations for three named customers.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or Claude, a spreadsheet, labs/resources/transactions.csv, labs/resources/products.csv</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Personalised Recommendations and Targeted Promotions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2926080"/>
          </a:xfrm>
          <a:prstGeom prst="rect">
            <a:avLst/>
          </a:prstGeom>
          <a:noFill/>
        </p:spPr>
        <p:txBody>
          <a:bodyPr wrap="square" anchor="ctr">
            <a:spAutoFit/>
          </a:bodyPr>
          <a:lstStyle/>
          <a:p>
            <a:pPr algn="l">
              <a:spcAft>
                <a:spcPts val="400"/>
              </a:spcAft>
            </a:pPr>
            <a:r>
              <a:rPr sz="2300" b="0">
                <a:solidFill>
                  <a:srgbClr val="161B26"/>
                </a:solidFill>
                <a:latin typeface="Arial"/>
              </a:rPr>
              <a:t>Use the anonymised extract from Lab 4, not the raw customer file - the same rule applies to your own store data.</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Personalised Recommendations and Targeted Promotions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Ask for a recency, frequency and value summary per customer, and a proposed set of four segments.</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223570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2016252"/>
          </a:xfrm>
          <a:prstGeom prst="rect">
            <a:avLst/>
          </a:prstGeom>
          <a:noFill/>
        </p:spPr>
        <p:txBody>
          <a:bodyPr wrap="square" anchor="t">
            <a:spAutoFit/>
          </a:bodyPr>
          <a:lstStyle/>
          <a:p>
            <a:pPr algn="l">
              <a:spcAft>
                <a:spcPts val="200"/>
              </a:spcAft>
            </a:pPr>
            <a:r>
              <a:rPr sz="1300" b="0">
                <a:solidFill>
                  <a:srgbClr val="9CDCFE"/>
                </a:solidFill>
                <a:latin typeface="Arial"/>
              </a:rPr>
              <a:t>Role: you are a CRM analyst for Bloom &amp; Brew.</a:t>
            </a:r>
          </a:p>
          <a:p>
            <a:pPr algn="l">
              <a:spcAft>
                <a:spcPts val="200"/>
              </a:spcAft>
            </a:pPr>
            <a:r>
              <a:rPr sz="1300" b="0">
                <a:solidFill>
                  <a:srgbClr val="9CDCFE"/>
                </a:solidFill>
                <a:latin typeface="Arial"/>
              </a:rPr>
              <a:t>Context: the attached file is an anonymised transaction extract. Columns: order_id, order_month, customer_ref, sku, qty, unit_price, channel, store.</a:t>
            </a:r>
          </a:p>
          <a:p>
            <a:pPr algn="l">
              <a:spcAft>
                <a:spcPts val="200"/>
              </a:spcAft>
            </a:pPr>
            <a:r>
              <a:rPr sz="1300" b="0">
                <a:solidFill>
                  <a:srgbClr val="9CDCFE"/>
                </a:solidFill>
                <a:latin typeface="Arial"/>
              </a:rPr>
              <a:t>Task: summarise each customer by recency (months since last order), frequency (orders in the period) and value (total spend), then propose four segments that cover every customer with no overlap.</a:t>
            </a:r>
          </a:p>
          <a:p>
            <a:pPr algn="l">
              <a:spcAft>
                <a:spcPts val="200"/>
              </a:spcAft>
            </a:pPr>
            <a:r>
              <a:rPr sz="1300" b="0">
                <a:solidFill>
                  <a:srgbClr val="9CDCFE"/>
                </a:solidFill>
                <a:latin typeface="Arial"/>
              </a:rPr>
              <a:t>Format: (1) a table of the four segments with their rule, customer count and share of total revenue; (2) the ten highest-value customers with their recency, frequency and value.</a:t>
            </a:r>
          </a:p>
          <a:p>
            <a:pPr algn="l">
              <a:spcAft>
                <a:spcPts val="200"/>
              </a:spcAft>
            </a:pPr>
            <a:r>
              <a:rPr sz="1300" b="0">
                <a:solidFill>
                  <a:srgbClr val="9CDCFE"/>
                </a:solidFill>
                <a:latin typeface="Arial"/>
              </a:rPr>
              <a:t>Constraints: state the exact rule for each segment so I can reproduce it in a spreadsheet; flag any customer the rules do not capture.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Personalised Recommendations and Targeted Promotions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2926080"/>
          </a:xfrm>
          <a:prstGeom prst="rect">
            <a:avLst/>
          </a:prstGeom>
          <a:noFill/>
        </p:spPr>
        <p:txBody>
          <a:bodyPr wrap="square" anchor="ctr">
            <a:spAutoFit/>
          </a:bodyPr>
          <a:lstStyle/>
          <a:p>
            <a:pPr algn="l">
              <a:spcAft>
                <a:spcPts val="400"/>
              </a:spcAft>
            </a:pPr>
            <a:r>
              <a:rPr sz="2300" b="0">
                <a:solidFill>
                  <a:srgbClr val="161B26"/>
                </a:solidFill>
                <a:latin typeface="Arial"/>
              </a:rPr>
              <a:t>Sanity-check the segments in the spreadsheet before you build offers on top of them.</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Personalised Recommendations and Targeted Promotions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Design the offer, channel and message for each segment in one pass.</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13639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1144524"/>
          </a:xfrm>
          <a:prstGeom prst="rect">
            <a:avLst/>
          </a:prstGeom>
          <a:noFill/>
        </p:spPr>
        <p:txBody>
          <a:bodyPr wrap="square" anchor="t">
            <a:spAutoFit/>
          </a:bodyPr>
          <a:lstStyle/>
          <a:p>
            <a:pPr algn="l">
              <a:spcAft>
                <a:spcPts val="200"/>
              </a:spcAft>
            </a:pPr>
            <a:r>
              <a:rPr sz="1300" b="0">
                <a:solidFill>
                  <a:srgbClr val="9CDCFE"/>
                </a:solidFill>
                <a:latin typeface="Arial"/>
              </a:rPr>
              <a:t>Task: for each of the four segments, design the next campaign.</a:t>
            </a:r>
          </a:p>
          <a:p>
            <a:pPr algn="l">
              <a:spcAft>
                <a:spcPts val="200"/>
              </a:spcAft>
            </a:pPr>
            <a:r>
              <a:rPr sz="1300" b="0">
                <a:solidFill>
                  <a:srgbClr val="9CDCFE"/>
                </a:solidFill>
                <a:latin typeface="Arial"/>
              </a:rPr>
              <a:t>Format: a table with columns - segment, objective, offer, channel, subject line or opening line (max 45 characters), and the one metric that tells us it worked.</a:t>
            </a:r>
          </a:p>
          <a:p>
            <a:pPr algn="l">
              <a:spcAft>
                <a:spcPts val="200"/>
              </a:spcAft>
            </a:pPr>
            <a:r>
              <a:rPr sz="1300" b="0">
                <a:solidFill>
                  <a:srgbClr val="9CDCFE"/>
                </a:solidFill>
                <a:latin typeface="Arial"/>
              </a:rPr>
              <a:t>Constraints: a different objective per segment - do not discount to customers who are already buying at full price; every offer must name a product category that exists in products.csv.</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Personalised Recommendations and Targeted Promotions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Build next-best-product recommendations for three individual customers from their own purchase history.</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13639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1144524"/>
          </a:xfrm>
          <a:prstGeom prst="rect">
            <a:avLst/>
          </a:prstGeom>
          <a:noFill/>
        </p:spPr>
        <p:txBody>
          <a:bodyPr wrap="square" anchor="t">
            <a:spAutoFit/>
          </a:bodyPr>
          <a:lstStyle/>
          <a:p>
            <a:pPr algn="l">
              <a:spcAft>
                <a:spcPts val="200"/>
              </a:spcAft>
            </a:pPr>
            <a:r>
              <a:rPr sz="1300" b="0">
                <a:solidFill>
                  <a:srgbClr val="9CDCFE"/>
                </a:solidFill>
                <a:latin typeface="Arial"/>
              </a:rPr>
              <a:t>Task: for customer_ref &lt;C0xx&gt;, &lt;C0yy&gt; and &lt;C0zz&gt;, recommend the next TWO products each.</a:t>
            </a:r>
          </a:p>
          <a:p>
            <a:pPr algn="l">
              <a:spcAft>
                <a:spcPts val="200"/>
              </a:spcAft>
            </a:pPr>
            <a:r>
              <a:rPr sz="1300" b="0">
                <a:solidFill>
                  <a:srgbClr val="9CDCFE"/>
                </a:solidFill>
                <a:latin typeface="Arial"/>
              </a:rPr>
              <a:t>Format: a table of customer_ref, what they have bought, recommended SKU, and the one-sentence reason a store colleague could say out loud.</a:t>
            </a:r>
          </a:p>
          <a:p>
            <a:pPr algn="l">
              <a:spcAft>
                <a:spcPts val="200"/>
              </a:spcAft>
            </a:pPr>
            <a:r>
              <a:rPr sz="1300" b="0">
                <a:solidFill>
                  <a:srgbClr val="9CDCFE"/>
                </a:solidFill>
                <a:latin typeface="Arial"/>
              </a:rPr>
              <a:t>Constraints: recommend only SKUs in products.csv that the customer has not already bought; no recommendation may rely on a product attribute that is not in the file.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Personalised Recommendations and Targeted Promotions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2926080"/>
          </a:xfrm>
          <a:prstGeom prst="rect">
            <a:avLst/>
          </a:prstGeom>
          <a:noFill/>
        </p:spPr>
        <p:txBody>
          <a:bodyPr wrap="square" anchor="ctr">
            <a:spAutoFit/>
          </a:bodyPr>
          <a:lstStyle/>
          <a:p>
            <a:pPr algn="l">
              <a:spcAft>
                <a:spcPts val="400"/>
              </a:spcAft>
            </a:pPr>
            <a:r>
              <a:rPr sz="2300" b="0">
                <a:solidFill>
                  <a:srgbClr val="161B26"/>
                </a:solidFill>
                <a:latin typeface="Arial"/>
              </a:rPr>
              <a:t>Check the margin: price the deepest offer against cost in products.csv before anyone approves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Personalised Recommendations and Targeted Promotions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Take one next-best-product recommendation and check it against that customer's own rows in the extract: the recommended SKU must be a product they have NOT bought, and the stated reason must match what they actually purchased. If the reason cites a purchase that is not in their history, the recommendation was invented - re-run it with the customer's rows pasted directly into the prompt.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Demand Forecasting and Inventory Planning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900" b="0">
                <a:solidFill>
                  <a:srgbClr val="161B26"/>
                </a:solidFill>
                <a:latin typeface="Arial"/>
              </a:rPr>
              <a:t>A forecast is only useful when it ends in a buying decision. You will take two years of Bloom &amp; Brew monthly sales, have AI identify trend and seasonality by category, forecast the next three months for the top SKUs, then convert that into reorder points with lead time and safety stock - and check one of them by hand before anyone raises a purchase order.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A three-month demand forecast, reorder quantities with safety stock, and a slow-mover list ready for the buying meeting.</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or Claude, a spreadsheet, labs/resources/sales_history_monthly.csv, labs/resources/products.csv</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Demand Forecasting and Inventory Planning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2926080"/>
          </a:xfrm>
          <a:prstGeom prst="rect">
            <a:avLst/>
          </a:prstGeom>
          <a:noFill/>
        </p:spPr>
        <p:txBody>
          <a:bodyPr wrap="square" anchor="ctr">
            <a:spAutoFit/>
          </a:bodyPr>
          <a:lstStyle/>
          <a:p>
            <a:pPr algn="l">
              <a:spcAft>
                <a:spcPts val="400"/>
              </a:spcAft>
            </a:pPr>
            <a:r>
              <a:rPr sz="2300" b="0">
                <a:solidFill>
                  <a:srgbClr val="161B26"/>
                </a:solidFill>
                <a:latin typeface="Arial"/>
              </a:rPr>
              <a:t>Open sales_history_monthly.csv and check what you have: 24 months of units by SKU, category and month.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Demand Forecasting and Inventory Planning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Ask for the pattern first - trend, seasonality and anomalies by category - before asking for any forecast.</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20177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1798320"/>
          </a:xfrm>
          <a:prstGeom prst="rect">
            <a:avLst/>
          </a:prstGeom>
          <a:noFill/>
        </p:spPr>
        <p:txBody>
          <a:bodyPr wrap="square" anchor="t">
            <a:spAutoFit/>
          </a:bodyPr>
          <a:lstStyle/>
          <a:p>
            <a:pPr algn="l">
              <a:spcAft>
                <a:spcPts val="200"/>
              </a:spcAft>
            </a:pPr>
            <a:r>
              <a:rPr sz="1300" b="0">
                <a:solidFill>
                  <a:srgbClr val="9CDCFE"/>
                </a:solidFill>
                <a:latin typeface="Arial"/>
              </a:rPr>
              <a:t>Role: you are a demand planner for Bloom &amp; Brew.</a:t>
            </a:r>
          </a:p>
          <a:p>
            <a:pPr algn="l">
              <a:spcAft>
                <a:spcPts val="200"/>
              </a:spcAft>
            </a:pPr>
            <a:r>
              <a:rPr sz="1300" b="0">
                <a:solidFill>
                  <a:srgbClr val="9CDCFE"/>
                </a:solidFill>
                <a:latin typeface="Arial"/>
              </a:rPr>
              <a:t>Context: the attached sales_history_monthly.csv holds 24 months of unit sales by SKU, category and month.</a:t>
            </a:r>
          </a:p>
          <a:p>
            <a:pPr algn="l">
              <a:spcAft>
                <a:spcPts val="200"/>
              </a:spcAft>
            </a:pPr>
            <a:r>
              <a:rPr sz="1300" b="0">
                <a:solidFill>
                  <a:srgbClr val="9CDCFE"/>
                </a:solidFill>
                <a:latin typeface="Arial"/>
              </a:rPr>
              <a:t>Task: describe the demand pattern for each category - underlying trend, seasonal peaks and troughs, and any month that looks like an anomaly rather than a pattern.</a:t>
            </a:r>
          </a:p>
          <a:p>
            <a:pPr algn="l">
              <a:spcAft>
                <a:spcPts val="200"/>
              </a:spcAft>
            </a:pPr>
            <a:r>
              <a:rPr sz="1300" b="0">
                <a:solidFill>
                  <a:srgbClr val="9CDCFE"/>
                </a:solidFill>
                <a:latin typeface="Arial"/>
              </a:rPr>
              <a:t>Format: a table of category, trend direction, peak months, trough months, and a one-line note on anomalies.</a:t>
            </a:r>
          </a:p>
          <a:p>
            <a:pPr algn="l">
              <a:spcAft>
                <a:spcPts val="200"/>
              </a:spcAft>
            </a:pPr>
            <a:r>
              <a:rPr sz="1300" b="0">
                <a:solidFill>
                  <a:srgbClr val="9CDCFE"/>
                </a:solidFill>
                <a:latin typeface="Arial"/>
              </a:rPr>
              <a:t>Constraints: base every statement on the data in the file; state clearly where 24 months is too short to be confident.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Demand Forecasting and Inventory Planning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Forecast the next three months for the top ten SKUs by volume, with the method stated.</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13639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1144524"/>
          </a:xfrm>
          <a:prstGeom prst="rect">
            <a:avLst/>
          </a:prstGeom>
          <a:noFill/>
        </p:spPr>
        <p:txBody>
          <a:bodyPr wrap="square" anchor="t">
            <a:spAutoFit/>
          </a:bodyPr>
          <a:lstStyle/>
          <a:p>
            <a:pPr algn="l">
              <a:spcAft>
                <a:spcPts val="200"/>
              </a:spcAft>
            </a:pPr>
            <a:r>
              <a:rPr sz="1300" b="0">
                <a:solidFill>
                  <a:srgbClr val="9CDCFE"/>
                </a:solidFill>
                <a:latin typeface="Arial"/>
              </a:rPr>
              <a:t>Task: forecast units for the next three months for the ten highest-volume SKUs.</a:t>
            </a:r>
          </a:p>
          <a:p>
            <a:pPr algn="l">
              <a:spcAft>
                <a:spcPts val="200"/>
              </a:spcAft>
            </a:pPr>
            <a:r>
              <a:rPr sz="1300" b="0">
                <a:solidFill>
                  <a:srgbClr val="9CDCFE"/>
                </a:solidFill>
                <a:latin typeface="Arial"/>
              </a:rPr>
              <a:t>Format: a table of SKU, category, last three months actual, forecast for each of the next three months, and the method used in one line.</a:t>
            </a:r>
          </a:p>
          <a:p>
            <a:pPr algn="l">
              <a:spcAft>
                <a:spcPts val="200"/>
              </a:spcAft>
            </a:pPr>
            <a:r>
              <a:rPr sz="1300" b="0">
                <a:solidFill>
                  <a:srgbClr val="9CDCFE"/>
                </a:solidFill>
                <a:latin typeface="Arial"/>
              </a:rPr>
              <a:t>Constraints: state the seasonal uplift you applied and why; give a low and high case as well as the base case; do not forecast SKUs with fewer than six months of history - list those separately.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Demand Forecasting and Inventory Planning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Convert the forecast into a reorder decision using lead time and safety stock.</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1581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1362456"/>
          </a:xfrm>
          <a:prstGeom prst="rect">
            <a:avLst/>
          </a:prstGeom>
          <a:noFill/>
        </p:spPr>
        <p:txBody>
          <a:bodyPr wrap="square" anchor="t">
            <a:spAutoFit/>
          </a:bodyPr>
          <a:lstStyle/>
          <a:p>
            <a:pPr algn="l">
              <a:spcAft>
                <a:spcPts val="200"/>
              </a:spcAft>
            </a:pPr>
            <a:r>
              <a:rPr sz="1300" b="0">
                <a:solidFill>
                  <a:srgbClr val="9CDCFE"/>
                </a:solidFill>
                <a:latin typeface="Arial"/>
              </a:rPr>
              <a:t>Task: convert the base-case forecast into a reorder plan.</a:t>
            </a:r>
          </a:p>
          <a:p>
            <a:pPr algn="l">
              <a:spcAft>
                <a:spcPts val="200"/>
              </a:spcAft>
            </a:pPr>
            <a:r>
              <a:rPr sz="1300" b="0">
                <a:solidFill>
                  <a:srgbClr val="9CDCFE"/>
                </a:solidFill>
                <a:latin typeface="Arial"/>
              </a:rPr>
              <a:t>Context: supplier lead time is 6 weeks; we hold 2 weeks of safety stock; current stock on hand is in products.csv.</a:t>
            </a:r>
          </a:p>
          <a:p>
            <a:pPr algn="l">
              <a:spcAft>
                <a:spcPts val="200"/>
              </a:spcAft>
            </a:pPr>
            <a:r>
              <a:rPr sz="1300" b="0">
                <a:solidFill>
                  <a:srgbClr val="9CDCFE"/>
                </a:solidFill>
                <a:latin typeface="Arial"/>
              </a:rPr>
              <a:t>Format: a table of SKU, forecast monthly demand, lead-time demand, safety stock, reorder point, stock on hand, and order now yes/no with the quantity.</a:t>
            </a:r>
          </a:p>
          <a:p>
            <a:pPr algn="l">
              <a:spcAft>
                <a:spcPts val="200"/>
              </a:spcAft>
            </a:pPr>
            <a:r>
              <a:rPr sz="1300" b="0">
                <a:solidFill>
                  <a:srgbClr val="9CDCFE"/>
                </a:solidFill>
                <a:latin typeface="Arial"/>
              </a:rPr>
              <a:t>Constraints: show the arithmetic for each reorder point in a formula column so I can check it.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Demand Forecasting and Inventory Planning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Find the cash problem at the other end: the slow movers and the overstocks.</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13639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1144524"/>
          </a:xfrm>
          <a:prstGeom prst="rect">
            <a:avLst/>
          </a:prstGeom>
          <a:noFill/>
        </p:spPr>
        <p:txBody>
          <a:bodyPr wrap="square" anchor="t">
            <a:spAutoFit/>
          </a:bodyPr>
          <a:lstStyle/>
          <a:p>
            <a:pPr algn="l">
              <a:spcAft>
                <a:spcPts val="200"/>
              </a:spcAft>
            </a:pPr>
            <a:r>
              <a:rPr sz="1300" b="0">
                <a:solidFill>
                  <a:srgbClr val="9CDCFE"/>
                </a:solidFill>
                <a:latin typeface="Arial"/>
              </a:rPr>
              <a:t>Task: list the SKUs where stock on hand exceeds six months of forecast demand, and the SKUs with no sales in the last three months.</a:t>
            </a:r>
          </a:p>
          <a:p>
            <a:pPr algn="l">
              <a:spcAft>
                <a:spcPts val="200"/>
              </a:spcAft>
            </a:pPr>
            <a:r>
              <a:rPr sz="1300" b="0">
                <a:solidFill>
                  <a:srgbClr val="9CDCFE"/>
                </a:solidFill>
                <a:latin typeface="Arial"/>
              </a:rPr>
              <a:t>Format: a table of SKU, category, stock on hand, months of cover, value at cost, and a recommended action - markdown, bundle, return to supplier or discontinue.</a:t>
            </a:r>
          </a:p>
          <a:p>
            <a:pPr algn="l">
              <a:spcAft>
                <a:spcPts val="200"/>
              </a:spcAft>
            </a:pPr>
            <a:r>
              <a:rPr sz="1300" b="0">
                <a:solidFill>
                  <a:srgbClr val="9CDCFE"/>
                </a:solidFill>
                <a:latin typeface="Arial"/>
              </a:rPr>
              <a:t>Constraints: use cost_price from products.csv for the value column; total the cash tied up at the bottom.</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Demand Forecasting and Inventory Planning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2926080"/>
          </a:xfrm>
          <a:prstGeom prst="rect">
            <a:avLst/>
          </a:prstGeom>
          <a:noFill/>
        </p:spPr>
        <p:txBody>
          <a:bodyPr wrap="square" anchor="ctr">
            <a:spAutoFit/>
          </a:bodyPr>
          <a:lstStyle/>
          <a:p>
            <a:pPr algn="l">
              <a:spcAft>
                <a:spcPts val="400"/>
              </a:spcAft>
            </a:pPr>
            <a:r>
              <a:rPr sz="2300" b="0">
                <a:solidFill>
                  <a:srgbClr val="161B26"/>
                </a:solidFill>
                <a:latin typeface="Arial"/>
              </a:rPr>
              <a:t>Recompute one reorder point by hand in the spreadsheet before the plan goes anywhere near a supplier.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Demand Forecasting and Inventory Planning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Recompute one reorder point by hand: (monthly forecast / 4.33) x 6 weeks lead time, plus 2 weeks of safety stock at the same weekly rate. The AI's number must match yours within rounding. If it does not, ask it to show the assumption it used for that row - the mismatch is always in the units, not the maths.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AI for Pricing, Merchandising and Sales Analytics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900" b="0">
                <a:solidFill>
                  <a:srgbClr val="161B26"/>
                </a:solidFill>
                <a:latin typeface="Arial"/>
              </a:rPr>
              <a:t>The margin question a retailer actually asks is which products to mark down, which to leave alone, and what it costs. You will build a margin picture by SKU and category, identify markdown and price-increase candidates, model what a 15% markdown does to profit, then produce a one-page KPI summary with three recommended actions - verifying the headline number yourself.</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A margin and markdown review with a modelled price scenario, and a one-page sales KPI summary with three recommended actions.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or Claude, a spreadsheet, labs/resources/products.csv, labs/resources/transactions.csv</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AI for Pricing, Merchandising and Sales Analytics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Attach products.csv and the anonymised transaction extract, and ask for the margin picture by SKU and category.</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20177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1798320"/>
          </a:xfrm>
          <a:prstGeom prst="rect">
            <a:avLst/>
          </a:prstGeom>
          <a:noFill/>
        </p:spPr>
        <p:txBody>
          <a:bodyPr wrap="square" anchor="t">
            <a:spAutoFit/>
          </a:bodyPr>
          <a:lstStyle/>
          <a:p>
            <a:pPr algn="l">
              <a:spcAft>
                <a:spcPts val="200"/>
              </a:spcAft>
            </a:pPr>
            <a:r>
              <a:rPr sz="1300" b="0">
                <a:solidFill>
                  <a:srgbClr val="9CDCFE"/>
                </a:solidFill>
                <a:latin typeface="Arial"/>
              </a:rPr>
              <a:t>Role: you are a category manager for Bloom &amp; Brew.</a:t>
            </a:r>
          </a:p>
          <a:p>
            <a:pPr algn="l">
              <a:spcAft>
                <a:spcPts val="200"/>
              </a:spcAft>
            </a:pPr>
            <a:r>
              <a:rPr sz="1300" b="0">
                <a:solidFill>
                  <a:srgbClr val="9CDCFE"/>
                </a:solidFill>
                <a:latin typeface="Arial"/>
              </a:rPr>
              <a:t>Context: products.csv holds cost_price, retail_price and stock_on_hand; the transaction extract holds units sold by SKU.</a:t>
            </a:r>
          </a:p>
          <a:p>
            <a:pPr algn="l">
              <a:spcAft>
                <a:spcPts val="200"/>
              </a:spcAft>
            </a:pPr>
            <a:r>
              <a:rPr sz="1300" b="0">
                <a:solidFill>
                  <a:srgbClr val="9CDCFE"/>
                </a:solidFill>
                <a:latin typeface="Arial"/>
              </a:rPr>
              <a:t>Task: build the margin picture.</a:t>
            </a:r>
          </a:p>
          <a:p>
            <a:pPr algn="l">
              <a:spcAft>
                <a:spcPts val="200"/>
              </a:spcAft>
            </a:pPr>
            <a:r>
              <a:rPr sz="1300" b="0">
                <a:solidFill>
                  <a:srgbClr val="9CDCFE"/>
                </a:solidFill>
                <a:latin typeface="Arial"/>
              </a:rPr>
              <a:t>Format: (1) a table by category of revenue, gross margin percent and gross margin value, sorted by margin value; (2) the ten SKUs contributing the most margin and the ten contributing the least.</a:t>
            </a:r>
          </a:p>
          <a:p>
            <a:pPr algn="l">
              <a:spcAft>
                <a:spcPts val="200"/>
              </a:spcAft>
            </a:pPr>
            <a:r>
              <a:rPr sz="1300" b="0">
                <a:solidFill>
                  <a:srgbClr val="9CDCFE"/>
                </a:solidFill>
                <a:latin typeface="Arial"/>
              </a:rPr>
              <a:t>Constraints: gross margin percent = (retail_price - cost_price) / retail_price; show the formula you used for each aggregate; flag any SKU where cost exceeds retail.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AI for Pricing, Merchandising and Sales Analytics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Ask for markdown candidates and price-increase candidates, each with the reason from the data.</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1581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1362456"/>
          </a:xfrm>
          <a:prstGeom prst="rect">
            <a:avLst/>
          </a:prstGeom>
          <a:noFill/>
        </p:spPr>
        <p:txBody>
          <a:bodyPr wrap="square" anchor="t">
            <a:spAutoFit/>
          </a:bodyPr>
          <a:lstStyle/>
          <a:p>
            <a:pPr algn="l">
              <a:spcAft>
                <a:spcPts val="200"/>
              </a:spcAft>
            </a:pPr>
            <a:r>
              <a:rPr sz="1300" b="0">
                <a:solidFill>
                  <a:srgbClr val="9CDCFE"/>
                </a:solidFill>
                <a:latin typeface="Arial"/>
              </a:rPr>
              <a:t>Task: identify (a) five markdown candidates and (b) five price-increase candidates.</a:t>
            </a:r>
          </a:p>
          <a:p>
            <a:pPr algn="l">
              <a:spcAft>
                <a:spcPts val="200"/>
              </a:spcAft>
            </a:pPr>
            <a:r>
              <a:rPr sz="1300" b="0">
                <a:solidFill>
                  <a:srgbClr val="9CDCFE"/>
                </a:solidFill>
                <a:latin typeface="Arial"/>
              </a:rPr>
              <a:t>Format: a table of SKU, category, current margin percent, units sold, months of cover, recommendation and the one-line reason from the data.</a:t>
            </a:r>
          </a:p>
          <a:p>
            <a:pPr algn="l">
              <a:spcAft>
                <a:spcPts val="200"/>
              </a:spcAft>
            </a:pPr>
            <a:r>
              <a:rPr sz="1300" b="0">
                <a:solidFill>
                  <a:srgbClr val="9CDCFE"/>
                </a:solidFill>
                <a:latin typeface="Arial"/>
              </a:rPr>
              <a:t>Constraints: a markdown candidate must have both high cover and low velocity; a price-increase candidate must have strong velocity and below-category margin; do not recommend a price change on a SKU with fewer than 20 units sold.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AI for Pricing, Merchandising and Sales Analytics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Model the money: what a 15% markdown does to margin, and how many extra units it must sell to break even.</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13639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1144524"/>
          </a:xfrm>
          <a:prstGeom prst="rect">
            <a:avLst/>
          </a:prstGeom>
          <a:noFill/>
        </p:spPr>
        <p:txBody>
          <a:bodyPr wrap="square" anchor="t">
            <a:spAutoFit/>
          </a:bodyPr>
          <a:lstStyle/>
          <a:p>
            <a:pPr algn="l">
              <a:spcAft>
                <a:spcPts val="200"/>
              </a:spcAft>
            </a:pPr>
            <a:r>
              <a:rPr sz="1300" b="0">
                <a:solidFill>
                  <a:srgbClr val="9CDCFE"/>
                </a:solidFill>
                <a:latin typeface="Arial"/>
              </a:rPr>
              <a:t>Task: model a 15% markdown on the five markdown candidates.</a:t>
            </a:r>
          </a:p>
          <a:p>
            <a:pPr algn="l">
              <a:spcAft>
                <a:spcPts val="200"/>
              </a:spcAft>
            </a:pPr>
            <a:r>
              <a:rPr sz="1300" b="0">
                <a:solidFill>
                  <a:srgbClr val="9CDCFE"/>
                </a:solidFill>
                <a:latin typeface="Arial"/>
              </a:rPr>
              <a:t>Format: a table of SKU, current price, marked-down price, current margin percent, new margin percent, margin value lost per unit, and the extra units needed to hold total margin flat.</a:t>
            </a:r>
          </a:p>
          <a:p>
            <a:pPr algn="l">
              <a:spcAft>
                <a:spcPts val="200"/>
              </a:spcAft>
            </a:pPr>
            <a:r>
              <a:rPr sz="1300" b="0">
                <a:solidFill>
                  <a:srgbClr val="9CDCFE"/>
                </a:solidFill>
                <a:latin typeface="Arial"/>
              </a:rPr>
              <a:t>Constraints: state the break-even uplift as a percentage of current units; show the arithmetic; do not assume any demand elasticity you have not been given.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AI for Pricing, Merchandising and Sales Analytics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Write the category review narrative a merchant would actually read.</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114604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926592"/>
          </a:xfrm>
          <a:prstGeom prst="rect">
            <a:avLst/>
          </a:prstGeom>
          <a:noFill/>
        </p:spPr>
        <p:txBody>
          <a:bodyPr wrap="square" anchor="t">
            <a:spAutoFit/>
          </a:bodyPr>
          <a:lstStyle/>
          <a:p>
            <a:pPr algn="l">
              <a:spcAft>
                <a:spcPts val="200"/>
              </a:spcAft>
            </a:pPr>
            <a:r>
              <a:rPr sz="1300" b="0">
                <a:solidFill>
                  <a:srgbClr val="9CDCFE"/>
                </a:solidFill>
                <a:latin typeface="Arial"/>
              </a:rPr>
              <a:t>Task: write the category review for the two largest categories by revenue.</a:t>
            </a:r>
          </a:p>
          <a:p>
            <a:pPr algn="l">
              <a:spcAft>
                <a:spcPts val="200"/>
              </a:spcAft>
            </a:pPr>
            <a:r>
              <a:rPr sz="1300" b="0">
                <a:solidFill>
                  <a:srgbClr val="9CDCFE"/>
                </a:solidFill>
                <a:latin typeface="Arial"/>
              </a:rPr>
              <a:t>Format: for each category - what is working, what is not, the single biggest opportunity, and the risk if we do nothing. Maximum 120 words per category.</a:t>
            </a:r>
          </a:p>
          <a:p>
            <a:pPr algn="l">
              <a:spcAft>
                <a:spcPts val="200"/>
              </a:spcAft>
            </a:pPr>
            <a:r>
              <a:rPr sz="1300" b="0">
                <a:solidFill>
                  <a:srgbClr val="9CDCFE"/>
                </a:solidFill>
                <a:latin typeface="Arial"/>
              </a:rPr>
              <a:t>Constraints: every claim must cite a number from the analysis above; no generic retail advice.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AI for Pricing, Merchandising and Sales Analytics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Produce the one-page KPI summary for management, ending in three actions with an owner and a date.</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114604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926592"/>
          </a:xfrm>
          <a:prstGeom prst="rect">
            <a:avLst/>
          </a:prstGeom>
          <a:noFill/>
        </p:spPr>
        <p:txBody>
          <a:bodyPr wrap="square" anchor="t">
            <a:spAutoFit/>
          </a:bodyPr>
          <a:lstStyle/>
          <a:p>
            <a:pPr algn="l">
              <a:spcAft>
                <a:spcPts val="200"/>
              </a:spcAft>
            </a:pPr>
            <a:r>
              <a:rPr sz="1300" b="0">
                <a:solidFill>
                  <a:srgbClr val="9CDCFE"/>
                </a:solidFill>
                <a:latin typeface="Arial"/>
              </a:rPr>
              <a:t>Task: write a one-page sales KPI summary for the monthly management meeting.</a:t>
            </a:r>
          </a:p>
          <a:p>
            <a:pPr algn="l">
              <a:spcAft>
                <a:spcPts val="200"/>
              </a:spcAft>
            </a:pPr>
            <a:r>
              <a:rPr sz="1300" b="0">
                <a:solidFill>
                  <a:srgbClr val="9CDCFE"/>
                </a:solidFill>
                <a:latin typeface="Arial"/>
              </a:rPr>
              <a:t>Format: (1) five headline KPIs with the number and the direction; (2) three recommended actions, each with the expected impact, a suggested owner role and a by-when; (3) one risk to flag.</a:t>
            </a:r>
          </a:p>
          <a:p>
            <a:pPr algn="l">
              <a:spcAft>
                <a:spcPts val="200"/>
              </a:spcAft>
            </a:pPr>
            <a:r>
              <a:rPr sz="1300" b="0">
                <a:solidFill>
                  <a:srgbClr val="9CDCFE"/>
                </a:solidFill>
                <a:latin typeface="Arial"/>
              </a:rPr>
              <a:t>Constraints: maximum 350 words; plain English; no recommendation without a number behind it.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AI for Pricing, Merchandising and Sales Analytics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2926080"/>
          </a:xfrm>
          <a:prstGeom prst="rect">
            <a:avLst/>
          </a:prstGeom>
          <a:noFill/>
        </p:spPr>
        <p:txBody>
          <a:bodyPr wrap="square" anchor="ctr">
            <a:spAutoFit/>
          </a:bodyPr>
          <a:lstStyle/>
          <a:p>
            <a:pPr algn="l">
              <a:spcAft>
                <a:spcPts val="400"/>
              </a:spcAft>
            </a:pPr>
            <a:r>
              <a:rPr sz="2300" b="0">
                <a:solidFill>
                  <a:srgbClr val="161B26"/>
                </a:solidFill>
                <a:latin typeface="Arial"/>
              </a:rPr>
              <a:t>Verify the headline number yourself before the summary is circulated.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AI for Pricing, Merchandising and Sales Analytics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Verify the gross margin the AI reports for one SKU: (retail_price - cost_price) / retail_price from products.csv, worked out in the spreadsheet. It must match to one decimal place. Then recompute the total margin value for the largest category the same way. If either differs, the aggregation is wrong and every table built on it needs re-running from the corrected figures.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 Simple AI Workflow for a Daily Retail Task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900" b="0">
                <a:solidFill>
                  <a:srgbClr val="161B26"/>
                </a:solidFill>
                <a:latin typeface="Arial"/>
              </a:rPr>
              <a:t>The last step is turning today's prompting into something that runs tomorrow without you. You will build a no-code daily workflow in a spreadsheet - trigger, data, AI step, output, human check - that produces the Bloom &amp; Brew daily sales summary and drafts replies to overnight customer reviews, then document it as a one-page SOP and prove it repeats on a second day of data.</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A working no-code daily-summary workflow - trigger, data, AI step, output, human check - documented as a one-page SOP your team can run.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Google Sheets or Excel, ChatGPT or Claude, labs/resources/transactions.csv, labs/resources/customer_feedback.csv</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 Simple AI Workflow for a Daily Retail Task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2926080"/>
          </a:xfrm>
          <a:prstGeom prst="rect">
            <a:avLst/>
          </a:prstGeom>
          <a:noFill/>
        </p:spPr>
        <p:txBody>
          <a:bodyPr wrap="square" anchor="ctr">
            <a:spAutoFit/>
          </a:bodyPr>
          <a:lstStyle/>
          <a:p>
            <a:pPr algn="l">
              <a:spcAft>
                <a:spcPts val="400"/>
              </a:spcAft>
            </a:pPr>
            <a:r>
              <a:rPr sz="2300" b="0">
                <a:solidFill>
                  <a:srgbClr val="161B26"/>
                </a:solidFill>
                <a:latin typeface="Arial"/>
              </a:rPr>
              <a:t>Define the workflow on paper first: trigger, data in, AI step, output, human check - five boxes, one line each.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 Simple AI Workflow for a Daily Retail Task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2926080"/>
          </a:xfrm>
          <a:prstGeom prst="rect">
            <a:avLst/>
          </a:prstGeom>
          <a:noFill/>
        </p:spPr>
        <p:txBody>
          <a:bodyPr wrap="square" anchor="ctr">
            <a:spAutoFit/>
          </a:bodyPr>
          <a:lstStyle/>
          <a:p>
            <a:pPr algn="l">
              <a:spcAft>
                <a:spcPts val="400"/>
              </a:spcAft>
            </a:pPr>
            <a:r>
              <a:rPr sz="2300" b="0">
                <a:solidFill>
                  <a:srgbClr val="161B26"/>
                </a:solidFill>
                <a:latin typeface="Arial"/>
              </a:rPr>
              <a:t>Set up the sheet: one tab for the day's transactions, one for overnight feedback, one for the output.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 Simple AI Workflow for a Daily Retail Task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Write the AI step as a fixed, reusable prompt with the day's data as the only thing that changes.</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20177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1798320"/>
          </a:xfrm>
          <a:prstGeom prst="rect">
            <a:avLst/>
          </a:prstGeom>
          <a:noFill/>
        </p:spPr>
        <p:txBody>
          <a:bodyPr wrap="square" anchor="t">
            <a:spAutoFit/>
          </a:bodyPr>
          <a:lstStyle/>
          <a:p>
            <a:pPr algn="l">
              <a:spcAft>
                <a:spcPts val="200"/>
              </a:spcAft>
            </a:pPr>
            <a:r>
              <a:rPr sz="1300" b="0">
                <a:solidFill>
                  <a:srgbClr val="9CDCFE"/>
                </a:solidFill>
                <a:latin typeface="Arial"/>
              </a:rPr>
              <a:t>Role: you are the duty manager writing the Bloom &amp; Brew daily trading summary.</a:t>
            </a:r>
          </a:p>
          <a:p>
            <a:pPr algn="l">
              <a:spcAft>
                <a:spcPts val="200"/>
              </a:spcAft>
            </a:pPr>
            <a:r>
              <a:rPr sz="1300" b="0">
                <a:solidFill>
                  <a:srgbClr val="9CDCFE"/>
                </a:solidFill>
                <a:latin typeface="Arial"/>
              </a:rPr>
              <a:t>Context: below are yesterday's transaction rows and yesterday's customer feedback. Nothing else.</a:t>
            </a:r>
          </a:p>
          <a:p>
            <a:pPr algn="l">
              <a:spcAft>
                <a:spcPts val="200"/>
              </a:spcAft>
            </a:pPr>
            <a:r>
              <a:rPr sz="1300" b="0">
                <a:solidFill>
                  <a:srgbClr val="9CDCFE"/>
                </a:solidFill>
                <a:latin typeface="Arial"/>
              </a:rPr>
              <a:t>Task: write the daily summary.</a:t>
            </a:r>
          </a:p>
          <a:p>
            <a:pPr algn="l">
              <a:spcAft>
                <a:spcPts val="200"/>
              </a:spcAft>
            </a:pPr>
            <a:r>
              <a:rPr sz="1300" b="0">
                <a:solidFill>
                  <a:srgbClr val="9CDCFE"/>
                </a:solidFill>
                <a:latin typeface="Arial"/>
              </a:rPr>
              <a:t>Format: (1) five bullets - revenue, units, best category, worst category, one thing that stands out; (2) any stock or service issue that needs attention today; (3) a draft reply to each piece of feedback rated 3 stars or below, maximum 60 words each, in our house tone.</a:t>
            </a:r>
          </a:p>
          <a:p>
            <a:pPr algn="l">
              <a:spcAft>
                <a:spcPts val="200"/>
              </a:spcAft>
            </a:pPr>
            <a:r>
              <a:rPr sz="1300" b="0">
                <a:solidFill>
                  <a:srgbClr val="9CDCFE"/>
                </a:solidFill>
                <a:latin typeface="Arial"/>
              </a:rPr>
              <a:t>Constraints: use only the rows below; if a number cannot be calculated from them, write NOT AVAILABLE; never promise a refund or a discount in a draft reply - offer to have a colleague make contact.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 Simple AI Workflow for a Daily Retail Task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2926080"/>
          </a:xfrm>
          <a:prstGeom prst="rect">
            <a:avLst/>
          </a:prstGeom>
          <a:noFill/>
        </p:spPr>
        <p:txBody>
          <a:bodyPr wrap="square" anchor="ctr">
            <a:spAutoFit/>
          </a:bodyPr>
          <a:lstStyle/>
          <a:p>
            <a:pPr algn="l">
              <a:spcAft>
                <a:spcPts val="400"/>
              </a:spcAft>
            </a:pPr>
            <a:r>
              <a:rPr sz="2300" b="0">
                <a:solidFill>
                  <a:srgbClr val="161B26"/>
                </a:solidFill>
                <a:latin typeface="Arial"/>
              </a:rPr>
              <a:t>Run the workflow end to end on one day of data and time how long it takes.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 Simple AI Workflow for a Daily Retail Task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2926080"/>
          </a:xfrm>
          <a:prstGeom prst="rect">
            <a:avLst/>
          </a:prstGeom>
          <a:noFill/>
        </p:spPr>
        <p:txBody>
          <a:bodyPr wrap="square" anchor="ctr">
            <a:spAutoFit/>
          </a:bodyPr>
          <a:lstStyle/>
          <a:p>
            <a:pPr algn="l">
              <a:spcAft>
                <a:spcPts val="400"/>
              </a:spcAft>
            </a:pPr>
            <a:r>
              <a:rPr sz="2300" b="0">
                <a:solidFill>
                  <a:srgbClr val="161B26"/>
                </a:solidFill>
                <a:latin typeface="Arial"/>
              </a:rPr>
              <a:t>Add the human check that has to happen before anything is sent, and name who does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 Simple AI Workflow for a Daily Retail Task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21408"/>
            <a:ext cx="9235440" cy="1234440"/>
          </a:xfrm>
          <a:prstGeom prst="rect">
            <a:avLst/>
          </a:prstGeom>
          <a:noFill/>
        </p:spPr>
        <p:txBody>
          <a:bodyPr wrap="square" anchor="ctr">
            <a:spAutoFit/>
          </a:bodyPr>
          <a:lstStyle/>
          <a:p>
            <a:pPr algn="l">
              <a:spcAft>
                <a:spcPts val="400"/>
              </a:spcAft>
            </a:pPr>
            <a:r>
              <a:rPr sz="2300" b="0">
                <a:solidFill>
                  <a:srgbClr val="161B26"/>
                </a:solidFill>
                <a:latin typeface="Arial"/>
              </a:rPr>
              <a:t>Document the workflow as a one-page SOP so someone else can run it tomorrow.</a:t>
            </a:r>
          </a:p>
        </p:txBody>
      </p:sp>
      <p:sp>
        <p:nvSpPr>
          <p:cNvPr id="11" name="TextBox 10"/>
          <p:cNvSpPr txBox="1"/>
          <p:nvPr/>
        </p:nvSpPr>
        <p:spPr>
          <a:xfrm>
            <a:off x="2331720" y="3182112"/>
            <a:ext cx="9235440" cy="274320"/>
          </a:xfrm>
          <a:prstGeom prst="rect">
            <a:avLst/>
          </a:prstGeom>
          <a:noFill/>
        </p:spPr>
        <p:txBody>
          <a:bodyPr wrap="square" anchor="t">
            <a:spAutoFit/>
          </a:bodyPr>
          <a:lstStyle/>
          <a:p>
            <a:pPr algn="l">
              <a:spcAft>
                <a:spcPts val="400"/>
              </a:spcAft>
            </a:pPr>
            <a:r>
              <a:rPr sz="1100" b="1">
                <a:solidFill>
                  <a:srgbClr val="5B6372"/>
                </a:solidFill>
                <a:latin typeface="Arial"/>
              </a:rPr>
              <a:t>PROMPT  ·  paste into your AI assistant</a:t>
            </a:r>
          </a:p>
        </p:txBody>
      </p:sp>
      <p:sp>
        <p:nvSpPr>
          <p:cNvPr id="12" name="Rectangle 11"/>
          <p:cNvSpPr/>
          <p:nvPr/>
        </p:nvSpPr>
        <p:spPr>
          <a:xfrm>
            <a:off x="2331720" y="3493008"/>
            <a:ext cx="9235440" cy="114604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602736"/>
            <a:ext cx="8778240" cy="926592"/>
          </a:xfrm>
          <a:prstGeom prst="rect">
            <a:avLst/>
          </a:prstGeom>
          <a:noFill/>
        </p:spPr>
        <p:txBody>
          <a:bodyPr wrap="square" anchor="t">
            <a:spAutoFit/>
          </a:bodyPr>
          <a:lstStyle/>
          <a:p>
            <a:pPr algn="l">
              <a:spcAft>
                <a:spcPts val="200"/>
              </a:spcAft>
            </a:pPr>
            <a:r>
              <a:rPr sz="1300" b="0">
                <a:solidFill>
                  <a:srgbClr val="9CDCFE"/>
                </a:solidFill>
                <a:latin typeface="Arial"/>
              </a:rPr>
              <a:t>Task: turn the workflow I have just built into a one-page standard operating procedure.</a:t>
            </a:r>
          </a:p>
          <a:p>
            <a:pPr algn="l">
              <a:spcAft>
                <a:spcPts val="200"/>
              </a:spcAft>
            </a:pPr>
            <a:r>
              <a:rPr sz="1300" b="0">
                <a:solidFill>
                  <a:srgbClr val="9CDCFE"/>
                </a:solidFill>
                <a:latin typeface="Arial"/>
              </a:rPr>
              <a:t>Format: purpose, when it runs, who runs it, the numbered steps with the exact prompt to paste, what to check before sending, and what to do when the output looks wrong.</a:t>
            </a:r>
          </a:p>
          <a:p>
            <a:pPr algn="l">
              <a:spcAft>
                <a:spcPts val="200"/>
              </a:spcAft>
            </a:pPr>
            <a:r>
              <a:rPr sz="1300" b="0">
                <a:solidFill>
                  <a:srgbClr val="9CDCFE"/>
                </a:solidFill>
                <a:latin typeface="Arial"/>
              </a:rPr>
              <a:t>Constraints: written for a duty manager who has never used AI before; maximum one page; no jargon.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 Simple AI Workflow for a Daily Retail Task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 the whole workflow again on a SECOND day of data without changing a word of the prompt. If the output comes back in the same format, with the numbers matching what the Data tab shows and no invented figures, the workflow is repeatable and ready for your team. If you had to adjust the prompt to make day two work, it is still a manual task - fix the prompt, not the day.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Applying AI to Retail Operations and Customer Experience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deploy an AI customer-service assistant grounded in your own policies, FAQ and product data</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segment customers from transaction data and build targeted offers and next-best-product recommendations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turn sales history into a demand forecast, reorder quantities and a slow-mover list</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analyse margin, model a markdown scenario and produce a KPI summary with recommended actions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build and document a repeatable no-code AI workflow with a human check for a daily retail task</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AI Landscape</a:t>
            </a:r>
          </a:p>
          <a:p>
            <a:pPr algn="l">
              <a:spcAft>
                <a:spcPts val="300"/>
              </a:spcAft>
            </a:pPr>
            <a:r>
              <a:rPr sz="1200" b="0">
                <a:solidFill>
                  <a:srgbClr val="5B6372"/>
                </a:solidFill>
                <a:latin typeface="Arial"/>
              </a:rPr>
              <a:t>Describe the AI landscape from generative AI to AI agents, and identify high-value AI use cases across the retail value chain.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AI Assistants</a:t>
            </a:r>
          </a:p>
          <a:p>
            <a:pPr algn="l">
              <a:spcAft>
                <a:spcPts val="300"/>
              </a:spcAft>
            </a:pPr>
            <a:r>
              <a:rPr sz="1200" b="0">
                <a:solidFill>
                  <a:srgbClr val="5B6372"/>
                </a:solidFill>
                <a:latin typeface="Arial"/>
              </a:rPr>
              <a:t>Use AI assistants such as ChatGPT, Claude, Microsoft Copilot and Google Gemini to complete everyday retail tasks with well-structured prompts.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Content &amp; Visuals</a:t>
            </a:r>
          </a:p>
          <a:p>
            <a:pPr algn="l">
              <a:spcAft>
                <a:spcPts val="300"/>
              </a:spcAft>
            </a:pPr>
            <a:r>
              <a:rPr sz="1200" b="0">
                <a:solidFill>
                  <a:srgbClr val="5B6372"/>
                </a:solidFill>
                <a:latin typeface="Arial"/>
              </a:rPr>
              <a:t>Generate on-brand product descriptions, marketing copy and product visuals with AI, and check them before they reach a customer.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Responsible AI</a:t>
            </a:r>
          </a:p>
          <a:p>
            <a:pPr algn="l">
              <a:spcAft>
                <a:spcPts val="300"/>
              </a:spcAft>
            </a:pPr>
            <a:r>
              <a:rPr sz="1200" b="0">
                <a:solidFill>
                  <a:srgbClr val="5B6372"/>
                </a:solidFill>
                <a:latin typeface="Arial"/>
              </a:rPr>
              <a:t>Apply customer data privacy, governance and responsible-AI practices when using AI tools on retail data.</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Service &amp; Personalisation</a:t>
            </a:r>
          </a:p>
          <a:p>
            <a:pPr algn="l">
              <a:spcAft>
                <a:spcPts val="300"/>
              </a:spcAft>
            </a:pPr>
            <a:r>
              <a:rPr sz="1200" b="0">
                <a:solidFill>
                  <a:srgbClr val="5B6372"/>
                </a:solidFill>
                <a:latin typeface="Arial"/>
              </a:rPr>
              <a:t>Deploy AI for customer service, personalised recommendations and targeted promotions in a retail setting.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Analytics &amp; Workflows</a:t>
            </a:r>
          </a:p>
          <a:p>
            <a:pPr algn="l">
              <a:spcAft>
                <a:spcPts val="300"/>
              </a:spcAft>
            </a:pPr>
            <a:r>
              <a:rPr sz="1200" b="0">
                <a:solidFill>
                  <a:srgbClr val="5B6372"/>
                </a:solidFill>
                <a:latin typeface="Arial"/>
              </a:rPr>
              <a:t>Apply AI to demand forecasting, inventory planning, pricing, merchandising and sales analytics, and build simple AI workflows for daily retail tasks.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Continuing Your Journey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Pick the single lab that saves you the most time and run it on your own store data next week.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Build your prompt library: every prompt that worked today, saved with the output format it produced.</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Agree an AI usage policy with your team before AI touches customer data or pricing.</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in AI, data analytics and automation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THANK YOU FOR ATTENDING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have briefed, grounded, verified and shipped AI output across nine retail tasks today - keep applying the same pattern to your own store.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Retail  ·  C398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