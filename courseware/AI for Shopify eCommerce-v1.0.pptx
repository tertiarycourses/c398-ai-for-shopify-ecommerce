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7" r:id="rId18"/>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50" r:id="rId10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8"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101"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95B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75520" y="658368"/>
            <a:ext cx="1691640" cy="914400"/>
          </a:xfrm>
          <a:prstGeom prst="rect">
            <a:avLst/>
          </a:prstGeom>
          <a:solidFill>
            <a:srgbClr val="95B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0" y="786384"/>
            <a:ext cx="1691640" cy="457200"/>
          </a:xfrm>
          <a:prstGeom prst="rect">
            <a:avLst/>
          </a:prstGeom>
          <a:noFill/>
        </p:spPr>
        <p:txBody>
          <a:bodyPr wrap="square" anchor="t">
            <a:spAutoFit/>
          </a:bodyPr>
          <a:lstStyle/>
          <a:p>
            <a:pPr algn="ctr">
              <a:spcAft>
                <a:spcPts val="400"/>
              </a:spcAft>
            </a:pPr>
            <a:r>
              <a:rPr sz="2200" b="1">
                <a:solidFill>
                  <a:srgbClr val="FFFFFF"/>
                </a:solidFill>
                <a:latin typeface="Arial"/>
              </a:rPr>
              <a:t>shopify</a:t>
            </a:r>
          </a:p>
        </p:txBody>
      </p:sp>
      <p:sp>
        <p:nvSpPr>
          <p:cNvPr id="8" name="TextBox 7"/>
          <p:cNvSpPr txBox="1"/>
          <p:nvPr/>
        </p:nvSpPr>
        <p:spPr>
          <a:xfrm>
            <a:off x="9875520" y="1207008"/>
            <a:ext cx="1691640" cy="365760"/>
          </a:xfrm>
          <a:prstGeom prst="rect">
            <a:avLst/>
          </a:prstGeom>
          <a:noFill/>
        </p:spPr>
        <p:txBody>
          <a:bodyPr wrap="square" anchor="t">
            <a:spAutoFit/>
          </a:bodyPr>
          <a:lstStyle/>
          <a:p>
            <a:pPr algn="ctr">
              <a:spcAft>
                <a:spcPts val="400"/>
              </a:spcAft>
            </a:pPr>
            <a:r>
              <a:rPr sz="900" b="1">
                <a:solidFill>
                  <a:srgbClr val="FFFFFF"/>
                </a:solidFill>
                <a:latin typeface="Arial"/>
              </a:rPr>
              <a:t>eCOMMERCE</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Shopify eCommerce</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C398</a:t>
            </a:r>
          </a:p>
          <a:p>
            <a:r>
              <a:rPr sz="1600" b="0">
                <a:latin typeface="Arial"/>
              </a:rPr>
              <a:t>Conducted by Tertiary Infotech Academy Pte Ltd  ·  UEN 201200696W</a:t>
            </a:r>
          </a:p>
          <a:p>
            <a:r>
              <a:rPr sz="1600" b="0">
                <a:latin typeface="Arial"/>
              </a:rPr>
              <a:t>www.tertiarycourses.com.sg  ·  enquiry@tertiaryinfotech.com  ·  +65 6100 0613</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September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eCommerce, digital marketing, data analytics and AI — 20+ years of training and industry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Courses on eCommerce (Shopify, WooCommerce), SEO, digital marketing and web development.</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of Tertiary Infotech Academy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and your organisation / role.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store</a:t>
            </a:r>
          </a:p>
          <a:p>
            <a:pPr algn="l">
              <a:spcAft>
                <a:spcPts val="300"/>
              </a:spcAft>
            </a:pPr>
            <a:r>
              <a:rPr sz="1300" b="0">
                <a:solidFill>
                  <a:srgbClr val="5B6372"/>
                </a:solidFill>
                <a:latin typeface="Arial"/>
              </a:rPr>
              <a:t>Do you already sell online — or what do you plan to sell?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experience</a:t>
            </a:r>
          </a:p>
          <a:p>
            <a:pPr algn="l">
              <a:spcAft>
                <a:spcPts val="300"/>
              </a:spcAft>
            </a:pPr>
            <a:r>
              <a:rPr sz="1300" b="0">
                <a:solidFill>
                  <a:srgbClr val="5B6372"/>
                </a:solidFill>
                <a:latin typeface="Arial"/>
              </a:rPr>
              <a:t>Any experience with Shopify, other eCommerce platforms or web tools?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goal</a:t>
            </a:r>
          </a:p>
          <a:p>
            <a:pPr algn="l">
              <a:spcAft>
                <a:spcPts val="300"/>
              </a:spcAft>
            </a:pPr>
            <a:r>
              <a:rPr sz="1300" b="0">
                <a:solidFill>
                  <a:srgbClr val="5B6372"/>
                </a:solidFill>
                <a:latin typeface="Arial"/>
              </a:rPr>
              <a:t>What do you want your store to achieve after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stupid.</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one time.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Exit silently for calls or toilet breaks.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Full attendance — attend the whole day to get the most from the course.</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Have fun and build a real store!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 — lms-tms.tertiaryinfotech.com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Log in to the LMS/TMS portal at lms-tms.tertiaryinfotech.com</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Open My Courses and select this course</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Lab files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 you will use them in every lab</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1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Morning — Store Setup &amp; Products (9:30am – 12:30pm)</a:t>
            </a:r>
          </a:p>
          <a:p>
            <a:pPr>
              <a:spcAft>
                <a:spcPts val="1000"/>
              </a:spcAft>
            </a:pPr>
            <a:r>
              <a:rPr sz="1300" b="0">
                <a:solidFill>
                  <a:srgbClr val="5B6372"/>
                </a:solidFill>
                <a:latin typeface="Arial"/>
              </a:rPr>
              <a:t>–  Welcome · introductions · course outline</a:t>
            </a:r>
          </a:p>
          <a:p>
            <a:pPr>
              <a:spcAft>
                <a:spcPts val="1000"/>
              </a:spcAft>
            </a:pPr>
            <a:r>
              <a:rPr sz="1300" b="0">
                <a:solidFill>
                  <a:srgbClr val="5B6372"/>
                </a:solidFill>
                <a:latin typeface="Arial"/>
              </a:rPr>
              <a:t>–  Topic 1: Getting Started on Shopify (Lab 1)</a:t>
            </a:r>
          </a:p>
          <a:p>
            <a:pPr>
              <a:spcAft>
                <a:spcPts val="1000"/>
              </a:spcAft>
            </a:pPr>
            <a:r>
              <a:rPr sz="1300" b="0">
                <a:solidFill>
                  <a:srgbClr val="5B6372"/>
                </a:solidFill>
                <a:latin typeface="Arial"/>
              </a:rPr>
              <a:t>–  Topic 2: Setting Up Products (Lab 2)</a:t>
            </a:r>
          </a:p>
          <a:p>
            <a:pPr>
              <a:spcAft>
                <a:spcPts val="1000"/>
              </a:spcAft>
            </a:pPr>
            <a:r>
              <a:rPr sz="1300" b="0">
                <a:solidFill>
                  <a:srgbClr val="5B6372"/>
                </a:solidFill>
                <a:latin typeface="Arial"/>
              </a:rPr>
              <a:t>–  Lunch break (12:30pm – 1:00pm)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Afternoon — Theme, Orders, Payments &amp; Marketing (1:00pm – 5:30pm)</a:t>
            </a:r>
          </a:p>
          <a:p>
            <a:pPr>
              <a:spcAft>
                <a:spcPts val="1000"/>
              </a:spcAft>
            </a:pPr>
            <a:r>
              <a:rPr sz="1300" b="0">
                <a:solidFill>
                  <a:srgbClr val="5B6372"/>
                </a:solidFill>
                <a:latin typeface="Arial"/>
              </a:rPr>
              <a:t>–  Topic 3: Customizing Theme (Labs 3–4)</a:t>
            </a:r>
          </a:p>
          <a:p>
            <a:pPr>
              <a:spcAft>
                <a:spcPts val="1000"/>
              </a:spcAft>
            </a:pPr>
            <a:r>
              <a:rPr sz="1300" b="0">
                <a:solidFill>
                  <a:srgbClr val="5B6372"/>
                </a:solidFill>
                <a:latin typeface="Arial"/>
              </a:rPr>
              <a:t>–  Topic 4: Managing Orders (Lab 5)</a:t>
            </a:r>
          </a:p>
          <a:p>
            <a:pPr>
              <a:spcAft>
                <a:spcPts val="1000"/>
              </a:spcAft>
            </a:pPr>
            <a:r>
              <a:rPr sz="1300" b="0">
                <a:solidFill>
                  <a:srgbClr val="5B6372"/>
                </a:solidFill>
                <a:latin typeface="Arial"/>
              </a:rPr>
              <a:t>–  Topic 5: Payment and Shipping (Labs 6–7)</a:t>
            </a:r>
          </a:p>
          <a:p>
            <a:pPr>
              <a:spcAft>
                <a:spcPts val="1000"/>
              </a:spcAft>
            </a:pPr>
            <a:r>
              <a:rPr sz="1300" b="0">
                <a:solidFill>
                  <a:srgbClr val="5B6372"/>
                </a:solidFill>
                <a:latin typeface="Arial"/>
              </a:rPr>
              <a:t>–  Topic 6: Marketing and Performance (Labs 8–9)</a:t>
            </a:r>
          </a:p>
          <a:p>
            <a:pPr>
              <a:spcAft>
                <a:spcPts val="1000"/>
              </a:spcAft>
            </a:pPr>
            <a:r>
              <a:rPr sz="1300" b="0">
                <a:solidFill>
                  <a:srgbClr val="5B6372"/>
                </a:solidFill>
                <a:latin typeface="Arial"/>
              </a:rPr>
              <a:t>–  Course recap, Q&amp;A and course feedback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1 DAY · 9 HANDS-ON 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 — 6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1 · Getting Started on Shopify</a:t>
            </a:r>
          </a:p>
          <a:p>
            <a:pPr algn="l">
              <a:spcAft>
                <a:spcPts val="300"/>
              </a:spcAft>
            </a:pPr>
            <a:r>
              <a:rPr sz="1200" b="0">
                <a:solidFill>
                  <a:srgbClr val="5B6372"/>
                </a:solidFill>
                <a:latin typeface="Arial"/>
              </a:rPr>
              <a:t>Overview of Shopify · basic store configuration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2 · Setting Up Products</a:t>
            </a:r>
          </a:p>
          <a:p>
            <a:pPr algn="l">
              <a:spcAft>
                <a:spcPts val="300"/>
              </a:spcAft>
            </a:pPr>
            <a:r>
              <a:rPr sz="1200" b="0">
                <a:solidFill>
                  <a:srgbClr val="5B6372"/>
                </a:solidFill>
                <a:latin typeface="Arial"/>
              </a:rPr>
              <a:t>Products, details, SEO metas, variants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3 · Customizing Theme</a:t>
            </a:r>
          </a:p>
          <a:p>
            <a:pPr algn="l">
              <a:spcAft>
                <a:spcPts val="300"/>
              </a:spcAft>
            </a:pPr>
            <a:r>
              <a:rPr sz="1200" b="0">
                <a:solidFill>
                  <a:srgbClr val="5B6372"/>
                </a:solidFill>
                <a:latin typeface="Arial"/>
              </a:rPr>
              <a:t>Find, publish and customise a theme; collections; pages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4 · Managing Orders</a:t>
            </a:r>
          </a:p>
          <a:p>
            <a:pPr algn="l">
              <a:spcAft>
                <a:spcPts val="300"/>
              </a:spcAft>
            </a:pPr>
            <a:r>
              <a:rPr sz="1200" b="0">
                <a:solidFill>
                  <a:srgbClr val="5B6372"/>
                </a:solidFill>
                <a:latin typeface="Arial"/>
              </a:rPr>
              <a:t>View, fulfill, manage, refund and cancel orders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5 · Payment and Shipping</a:t>
            </a:r>
          </a:p>
          <a:p>
            <a:pPr algn="l">
              <a:spcAft>
                <a:spcPts val="300"/>
              </a:spcAft>
            </a:pPr>
            <a:r>
              <a:rPr sz="1200" b="0">
                <a:solidFill>
                  <a:srgbClr val="5B6372"/>
                </a:solidFill>
                <a:latin typeface="Arial"/>
              </a:rPr>
              <a:t>Payments, fraud, taxes, shipping and dropshipping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6 · Marketing and Performance</a:t>
            </a:r>
          </a:p>
          <a:p>
            <a:pPr algn="l">
              <a:spcAft>
                <a:spcPts val="300"/>
              </a:spcAft>
            </a:pPr>
            <a:r>
              <a:rPr sz="1200" b="0">
                <a:solidFill>
                  <a:srgbClr val="5B6372"/>
                </a:solidFill>
                <a:latin typeface="Arial"/>
              </a:rPr>
              <a:t>Marketing plan, SEO, discounts, analytics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ECOMMERCE ESSENTIALS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Why Shopify?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WHAT IS SHOPIFY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Shopify lets anyone set up an online store and sell.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One of the world's most popular hosted eCommerce platforms — no servers, no code required.  ·  https://www.shopify.com.sg/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GET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Shopify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Themes</a:t>
            </a:r>
          </a:p>
          <a:p>
            <a:pPr algn="l">
              <a:spcAft>
                <a:spcPts val="300"/>
              </a:spcAft>
            </a:pPr>
            <a:r>
              <a:rPr sz="1200" b="0">
                <a:solidFill>
                  <a:srgbClr val="5B6372"/>
                </a:solidFill>
                <a:latin typeface="Arial"/>
              </a:rPr>
              <a:t>Free and paid themes from the Theme Store make your store stand out.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Apps</a:t>
            </a:r>
          </a:p>
          <a:p>
            <a:pPr algn="l">
              <a:spcAft>
                <a:spcPts val="300"/>
              </a:spcAft>
            </a:pPr>
            <a:r>
              <a:rPr sz="1200" b="0">
                <a:solidFill>
                  <a:srgbClr val="5B6372"/>
                </a:solidFill>
                <a:latin typeface="Arial"/>
              </a:rPr>
              <a:t>Free and paid apps from the App Store expand your store's functionality.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Payments</a:t>
            </a:r>
          </a:p>
          <a:p>
            <a:pPr algn="l">
              <a:spcAft>
                <a:spcPts val="300"/>
              </a:spcAft>
            </a:pPr>
            <a:r>
              <a:rPr sz="1200" b="0">
                <a:solidFill>
                  <a:srgbClr val="5B6372"/>
                </a:solidFill>
                <a:latin typeface="Arial"/>
              </a:rPr>
              <a:t>Shopify's own payment provider accepts credit cards out of the box.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Sales channels</a:t>
            </a:r>
          </a:p>
          <a:p>
            <a:pPr algn="l">
              <a:spcAft>
                <a:spcPts val="300"/>
              </a:spcAft>
            </a:pPr>
            <a:r>
              <a:rPr sz="1200" b="0">
                <a:solidFill>
                  <a:srgbClr val="5B6372"/>
                </a:solidFill>
                <a:latin typeface="Arial"/>
              </a:rPr>
              <a:t>Grow with online store, POS, social and marketplace channels.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Guides &amp; experts</a:t>
            </a:r>
          </a:p>
          <a:p>
            <a:pPr algn="l">
              <a:spcAft>
                <a:spcPts val="300"/>
              </a:spcAft>
            </a:pPr>
            <a:r>
              <a:rPr sz="1200" b="0">
                <a:solidFill>
                  <a:srgbClr val="5B6372"/>
                </a:solidFill>
                <a:latin typeface="Arial"/>
              </a:rPr>
              <a:t>The Shopify blog and worldwide experts help you set up, design and market.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24/7 support</a:t>
            </a:r>
          </a:p>
          <a:p>
            <a:pPr algn="l">
              <a:spcAft>
                <a:spcPts val="300"/>
              </a:spcAft>
            </a:pPr>
            <a:r>
              <a:rPr sz="1200" b="0">
                <a:solidFill>
                  <a:srgbClr val="5B6372"/>
                </a:solidFill>
                <a:latin typeface="Arial"/>
              </a:rPr>
              <a:t>A dedicated support team answers questions on every plan.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STORES BUILT ON SHOPIFY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Shopify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Mollyjogger</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Outdoor heritage goods</a:t>
            </a:r>
          </a:p>
          <a:p>
            <a:pPr>
              <a:spcAft>
                <a:spcPts val="900"/>
              </a:spcAft>
            </a:pPr>
            <a:r>
              <a:rPr sz="1400" b="0">
                <a:solidFill>
                  <a:srgbClr val="161B26"/>
                </a:solidFill>
                <a:latin typeface="Arial"/>
              </a:rPr>
              <a:t>•  www.mollyjogger.com</a:t>
            </a:r>
          </a:p>
          <a:p>
            <a:pPr>
              <a:spcAft>
                <a:spcPts val="900"/>
              </a:spcAft>
            </a:pPr>
            <a:r>
              <a:rPr sz="1400" b="0">
                <a:solidFill>
                  <a:srgbClr val="161B26"/>
                </a:solidFill>
                <a:latin typeface="Arial"/>
              </a:rPr>
              <a:t>•  Niche brand storytelling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Miss Boon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Curated lifestyle boutique</a:t>
            </a:r>
          </a:p>
          <a:p>
            <a:pPr>
              <a:spcAft>
                <a:spcPts val="900"/>
              </a:spcAft>
            </a:pPr>
            <a:r>
              <a:rPr sz="1400" b="0">
                <a:solidFill>
                  <a:srgbClr val="161B26"/>
                </a:solidFill>
                <a:latin typeface="Arial"/>
              </a:rPr>
              <a:t>•  missboon.ca</a:t>
            </a:r>
          </a:p>
          <a:p>
            <a:pPr>
              <a:spcAft>
                <a:spcPts val="900"/>
              </a:spcAft>
            </a:pPr>
            <a:r>
              <a:rPr sz="1400" b="0">
                <a:solidFill>
                  <a:srgbClr val="161B26"/>
                </a:solidFill>
                <a:latin typeface="Arial"/>
              </a:rPr>
              <a:t>•  Clean, image-led design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The Citizenry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Artisan home décor</a:t>
            </a:r>
          </a:p>
          <a:p>
            <a:pPr>
              <a:spcAft>
                <a:spcPts val="900"/>
              </a:spcAft>
            </a:pPr>
            <a:r>
              <a:rPr sz="1400" b="0">
                <a:solidFill>
                  <a:srgbClr val="161B26"/>
                </a:solidFill>
                <a:latin typeface="Arial"/>
              </a:rPr>
              <a:t>•  www.the-citizenry.com</a:t>
            </a:r>
          </a:p>
          <a:p>
            <a:pPr>
              <a:spcAft>
                <a:spcPts val="900"/>
              </a:spcAft>
            </a:pPr>
            <a:r>
              <a:rPr sz="1400" b="0">
                <a:solidFill>
                  <a:srgbClr val="161B26"/>
                </a:solidFill>
                <a:latin typeface="Arial"/>
              </a:rPr>
              <a:t>•  Premium visual merchandising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CHOOSE YOUR PLAN · shopify.com/pricing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Shopify Pricing Plans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Basic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 solo sellers starting out</a:t>
            </a:r>
          </a:p>
          <a:p>
            <a:pPr>
              <a:spcAft>
                <a:spcPts val="900"/>
              </a:spcAft>
            </a:pPr>
            <a:r>
              <a:rPr sz="1400" b="0">
                <a:solidFill>
                  <a:srgbClr val="161B26"/>
                </a:solidFill>
                <a:latin typeface="Arial"/>
              </a:rPr>
              <a:t>•  Online store + unlimited products</a:t>
            </a:r>
          </a:p>
          <a:p>
            <a:pPr>
              <a:spcAft>
                <a:spcPts val="900"/>
              </a:spcAft>
            </a:pPr>
            <a:r>
              <a:rPr sz="1400" b="0">
                <a:solidFill>
                  <a:srgbClr val="161B26"/>
                </a:solidFill>
                <a:latin typeface="Arial"/>
              </a:rPr>
              <a:t>•  Basic reports · 2 staff accounts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Shopify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 growing businesses</a:t>
            </a:r>
          </a:p>
          <a:p>
            <a:pPr>
              <a:spcAft>
                <a:spcPts val="900"/>
              </a:spcAft>
            </a:pPr>
            <a:r>
              <a:rPr sz="1400" b="0">
                <a:solidFill>
                  <a:srgbClr val="161B26"/>
                </a:solidFill>
                <a:latin typeface="Arial"/>
              </a:rPr>
              <a:t>•  Professional reports</a:t>
            </a:r>
          </a:p>
          <a:p>
            <a:pPr>
              <a:spcAft>
                <a:spcPts val="900"/>
              </a:spcAft>
            </a:pPr>
            <a:r>
              <a:rPr sz="1400" b="0">
                <a:solidFill>
                  <a:srgbClr val="161B26"/>
                </a:solidFill>
                <a:latin typeface="Arial"/>
              </a:rPr>
              <a:t>•  Lower transaction fees · 5 staff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Advanced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 scaling businesses</a:t>
            </a:r>
          </a:p>
          <a:p>
            <a:pPr>
              <a:spcAft>
                <a:spcPts val="900"/>
              </a:spcAft>
            </a:pPr>
            <a:r>
              <a:rPr sz="1400" b="0">
                <a:solidFill>
                  <a:srgbClr val="161B26"/>
                </a:solidFill>
                <a:latin typeface="Arial"/>
              </a:rPr>
              <a:t>•  Advanced report builder</a:t>
            </a:r>
          </a:p>
          <a:p>
            <a:pPr>
              <a:spcAft>
                <a:spcPts val="900"/>
              </a:spcAft>
            </a:pPr>
            <a:r>
              <a:rPr sz="1400" b="0">
                <a:solidFill>
                  <a:srgbClr val="161B26"/>
                </a:solidFill>
                <a:latin typeface="Arial"/>
              </a:rPr>
              <a:t>•  Best shipping rates · 15 staff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PLAN FIRST, BUILD FAST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Start — Know Your Goals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products?</a:t>
            </a:r>
          </a:p>
          <a:p>
            <a:pPr algn="l">
              <a:spcAft>
                <a:spcPts val="300"/>
              </a:spcAft>
            </a:pPr>
            <a:r>
              <a:rPr sz="1300" b="0">
                <a:solidFill>
                  <a:srgbClr val="5B6372"/>
                </a:solidFill>
                <a:latin typeface="Arial"/>
              </a:rPr>
              <a:t>What exactly are you selling — physical, digital, services?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Who is it for?</a:t>
            </a:r>
          </a:p>
          <a:p>
            <a:pPr algn="l">
              <a:spcAft>
                <a:spcPts val="300"/>
              </a:spcAft>
            </a:pPr>
            <a:r>
              <a:rPr sz="1300" b="0">
                <a:solidFill>
                  <a:srgbClr val="5B6372"/>
                </a:solidFill>
                <a:latin typeface="Arial"/>
              </a:rPr>
              <a:t>Who is your target audience and where do they shop?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Which channels?</a:t>
            </a:r>
          </a:p>
          <a:p>
            <a:pPr algn="l">
              <a:spcAft>
                <a:spcPts val="300"/>
              </a:spcAft>
            </a:pPr>
            <a:r>
              <a:rPr sz="1300" b="0">
                <a:solidFill>
                  <a:srgbClr val="5B6372"/>
                </a:solidFill>
                <a:latin typeface="Arial"/>
              </a:rPr>
              <a:t>Online store, social, marketplaces, POS — where will you sell?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Which plan?</a:t>
            </a:r>
          </a:p>
          <a:p>
            <a:pPr algn="l">
              <a:spcAft>
                <a:spcPts val="300"/>
              </a:spcAft>
            </a:pPr>
            <a:r>
              <a:rPr sz="1300" b="0">
                <a:solidFill>
                  <a:srgbClr val="5B6372"/>
                </a:solidFill>
                <a:latin typeface="Arial"/>
              </a:rPr>
              <a:t>Match the pricing plan to your stage and sales volume.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on Shopify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Shopify eCommerce · Basic store configuration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Getting Started on Shopify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Shopify is one of the most popular hosted eCommerce platforms — anyone can set up an online store and sell products without managing servers or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Understand your goals before you build: what products you sell, who your target audience is, which sales channels you need and which pricing plan fits.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Basic store configuration covers the store name, legal business address, time zone, billing, currency, weight unit, shipping, taxes and your domain.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Store policies, staff permissions and content guidelines govern who may publish and change content on the store (content management policies).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Home page metadata (title + meta description) is what shoppers see on the search results page — unique, descriptive metadata attracts clicks.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Order IDs default to #1001, #1002 … — you can brand them with a custom prefix or suffix in Settings → General.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SETTINGS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Basic Store Configuration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Name your store and set a password page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Legal business name and address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Time zone, currency and weight unit</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Billing information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Payment gateways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Shipping zones and rates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Taxes for your selling regions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30952"/>
            <a:ext cx="3973068" cy="768096"/>
          </a:xfrm>
          <a:prstGeom prst="rect">
            <a:avLst/>
          </a:prstGeom>
          <a:noFill/>
        </p:spPr>
        <p:txBody>
          <a:bodyPr wrap="square" anchor="ctr">
            <a:spAutoFit/>
          </a:bodyPr>
          <a:lstStyle/>
          <a:p>
            <a:pPr algn="l">
              <a:spcAft>
                <a:spcPts val="400"/>
              </a:spcAft>
            </a:pPr>
            <a:r>
              <a:rPr sz="1400" b="0">
                <a:solidFill>
                  <a:srgbClr val="161B26"/>
                </a:solidFill>
                <a:latin typeface="Arial"/>
              </a:rPr>
              <a:t>Your custom domain</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SMALL SETTINGS, BIG POLISH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Home Page Metadata &amp; Order IDs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Be found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Look professional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Home page metadata</a:t>
            </a:r>
          </a:p>
          <a:p>
            <a:pPr>
              <a:spcAft>
                <a:spcPts val="1000"/>
              </a:spcAft>
            </a:pPr>
            <a:r>
              <a:rPr sz="1300" b="0">
                <a:solidFill>
                  <a:srgbClr val="5B6372"/>
                </a:solidFill>
                <a:latin typeface="Arial"/>
              </a:rPr>
              <a:t>–  Title + meta description shown on Google results</a:t>
            </a:r>
          </a:p>
          <a:p>
            <a:pPr>
              <a:spcAft>
                <a:spcPts val="1000"/>
              </a:spcAft>
            </a:pPr>
            <a:r>
              <a:rPr sz="1300" b="0">
                <a:solidFill>
                  <a:srgbClr val="5B6372"/>
                </a:solidFill>
                <a:latin typeface="Arial"/>
              </a:rPr>
              <a:t>–  Doesn't change ranking — but wins the click</a:t>
            </a:r>
          </a:p>
          <a:p>
            <a:pPr>
              <a:spcAft>
                <a:spcPts val="1000"/>
              </a:spcAft>
            </a:pPr>
            <a:r>
              <a:rPr sz="1300" b="0">
                <a:solidFill>
                  <a:srgbClr val="5B6372"/>
                </a:solidFill>
                <a:latin typeface="Arial"/>
              </a:rPr>
              <a:t>–  Unique and descriptive for every page</a:t>
            </a:r>
          </a:p>
          <a:p>
            <a:pPr>
              <a:spcAft>
                <a:spcPts val="1000"/>
              </a:spcAft>
            </a:pPr>
            <a:r>
              <a:rPr sz="1300" b="0">
                <a:solidFill>
                  <a:srgbClr val="5B6372"/>
                </a:solidFill>
                <a:latin typeface="Arial"/>
              </a:rPr>
              <a:t>–  Online Store → Preferences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Branded order IDs</a:t>
            </a:r>
          </a:p>
          <a:p>
            <a:pPr>
              <a:spcAft>
                <a:spcPts val="1000"/>
              </a:spcAft>
            </a:pPr>
            <a:r>
              <a:rPr sz="1300" b="0">
                <a:solidFill>
                  <a:srgbClr val="5B6372"/>
                </a:solidFill>
                <a:latin typeface="Arial"/>
              </a:rPr>
              <a:t>–  Orders start at #1001 and increment by 1</a:t>
            </a:r>
          </a:p>
          <a:p>
            <a:pPr>
              <a:spcAft>
                <a:spcPts val="1000"/>
              </a:spcAft>
            </a:pPr>
            <a:r>
              <a:rPr sz="1300" b="0">
                <a:solidFill>
                  <a:srgbClr val="5B6372"/>
                </a:solidFill>
                <a:latin typeface="Arial"/>
              </a:rPr>
              <a:t>–  The start number is fixed — the prefix/suffix is yours</a:t>
            </a:r>
          </a:p>
          <a:p>
            <a:pPr>
              <a:spcAft>
                <a:spcPts val="1000"/>
              </a:spcAft>
            </a:pPr>
            <a:r>
              <a:rPr sz="1300" b="0">
                <a:solidFill>
                  <a:srgbClr val="5B6372"/>
                </a:solidFill>
                <a:latin typeface="Arial"/>
              </a:rPr>
              <a:t>–  e.g. SG-1001 or 1001-WEB</a:t>
            </a:r>
          </a:p>
          <a:p>
            <a:pPr>
              <a:spcAft>
                <a:spcPts val="1000"/>
              </a:spcAft>
            </a:pPr>
            <a:r>
              <a:rPr sz="1300" b="0">
                <a:solidFill>
                  <a:srgbClr val="5B6372"/>
                </a:solidFill>
                <a:latin typeface="Arial"/>
              </a:rPr>
              <a:t>–  Settings → General → Standards and formats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SHOPIFY ECOSYSTEM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Grow Your Store — Themes &amp;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Look</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Function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Shopify Theme Store</a:t>
            </a:r>
          </a:p>
          <a:p>
            <a:pPr>
              <a:spcAft>
                <a:spcPts val="1000"/>
              </a:spcAft>
            </a:pPr>
            <a:r>
              <a:rPr sz="1300" b="0">
                <a:solidFill>
                  <a:srgbClr val="5B6372"/>
                </a:solidFill>
                <a:latin typeface="Arial"/>
              </a:rPr>
              <a:t>–  themes.shopify.com</a:t>
            </a:r>
          </a:p>
          <a:p>
            <a:pPr>
              <a:spcAft>
                <a:spcPts val="1000"/>
              </a:spcAft>
            </a:pPr>
            <a:r>
              <a:rPr sz="1300" b="0">
                <a:solidFill>
                  <a:srgbClr val="5B6372"/>
                </a:solidFill>
                <a:latin typeface="Arial"/>
              </a:rPr>
              <a:t>–  Free and paid themes by industry</a:t>
            </a:r>
          </a:p>
          <a:p>
            <a:pPr>
              <a:spcAft>
                <a:spcPts val="1000"/>
              </a:spcAft>
            </a:pPr>
            <a:r>
              <a:rPr sz="1300" b="0">
                <a:solidFill>
                  <a:srgbClr val="5B6372"/>
                </a:solidFill>
                <a:latin typeface="Arial"/>
              </a:rPr>
              <a:t>–  Filter by collection, features, price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Shopify App Store</a:t>
            </a:r>
          </a:p>
          <a:p>
            <a:pPr>
              <a:spcAft>
                <a:spcPts val="1000"/>
              </a:spcAft>
            </a:pPr>
            <a:r>
              <a:rPr sz="1300" b="0">
                <a:solidFill>
                  <a:srgbClr val="5B6372"/>
                </a:solidFill>
                <a:latin typeface="Arial"/>
              </a:rPr>
              <a:t>–  apps.shopify.com</a:t>
            </a:r>
          </a:p>
          <a:p>
            <a:pPr>
              <a:spcAft>
                <a:spcPts val="1000"/>
              </a:spcAft>
            </a:pPr>
            <a:r>
              <a:rPr sz="1300" b="0">
                <a:solidFill>
                  <a:srgbClr val="5B6372"/>
                </a:solidFill>
                <a:latin typeface="Arial"/>
              </a:rPr>
              <a:t>–  Marketing, shipping, reviews, upsells</a:t>
            </a:r>
          </a:p>
          <a:p>
            <a:pPr>
              <a:spcAft>
                <a:spcPts val="1000"/>
              </a:spcAft>
            </a:pPr>
            <a:r>
              <a:rPr sz="1300" b="0">
                <a:solidFill>
                  <a:srgbClr val="5B6372"/>
                </a:solidFill>
                <a:latin typeface="Arial"/>
              </a:rPr>
              <a:t>–  Install only what you need — apps add cost and weight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Your Shopify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Create your own Shopify trial store and complete the basic store configuration — store details, address, time zone, currency, weight unit, home page metadata and a branded order ID prefix.</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live Shopify trial store with correct store details, standards and formats, home page metadata and a custom order ID format.</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Shopify free trial, web browser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SET UP YOUR SHOPIFY STORE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up for a free trial store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Tour the Shopify admin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store details, time zone &amp; currency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home page metadata</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Brand your order ID prefix</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Your Shopify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Settings → General and confirm the store name, Singapore time zone, SGD currency and your custom order ID prefix are saved. Open your storefront preview and confirm the store loads with your store name in the browser tab.</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Getting Started on Shopify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LO1 — Setup Shopify eCommerce store and CMS</a:t>
            </a:r>
          </a:p>
          <a:p>
            <a:pPr>
              <a:spcAft>
                <a:spcPts val="1000"/>
              </a:spcAft>
            </a:pPr>
            <a:r>
              <a:rPr sz="1700" b="0">
                <a:solidFill>
                  <a:srgbClr val="161B26"/>
                </a:solidFill>
                <a:latin typeface="Arial"/>
              </a:rPr>
              <a:t>•  Key concepts: Overview of Shopify eCommerce · Basic store configuration.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Setting Up Products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Add products · Product details · Search engine metas · Variants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Setting Up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Products are the goods, digital downloads, services and gift cards you sell — each with a title, description, media, pricing, inventory and shipping details.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well-curated product page pairs quality images with benefit-led descriptions — it is your 24/7 salesperson.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The search engine listing (page title ≤ 55 chars, meta description, URL handle) controls how the product appears on Google.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Tags are searchable keywords that help customers find products and power automated collections.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Variants capture every combination of options (size, colour, style) — up to 3 options and 100 variants per product, each with its own price, SKU and image.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Publish each product to the right sales channels (online store, POS, social) from the product availability panel.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PRODUCT DETAILS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Anatomy of a Product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What the customer sees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What the business needs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Story &amp; media</a:t>
            </a:r>
          </a:p>
          <a:p>
            <a:pPr>
              <a:spcAft>
                <a:spcPts val="1000"/>
              </a:spcAft>
            </a:pPr>
            <a:r>
              <a:rPr sz="1300" b="0">
                <a:solidFill>
                  <a:srgbClr val="5B6372"/>
                </a:solidFill>
                <a:latin typeface="Arial"/>
              </a:rPr>
              <a:t>–  Title and benefit-led description</a:t>
            </a:r>
          </a:p>
          <a:p>
            <a:pPr>
              <a:spcAft>
                <a:spcPts val="1000"/>
              </a:spcAft>
            </a:pPr>
            <a:r>
              <a:rPr sz="1300" b="0">
                <a:solidFill>
                  <a:srgbClr val="5B6372"/>
                </a:solidFill>
                <a:latin typeface="Arial"/>
              </a:rPr>
              <a:t>–  Media: images, video, 3D</a:t>
            </a:r>
          </a:p>
          <a:p>
            <a:pPr>
              <a:spcAft>
                <a:spcPts val="1000"/>
              </a:spcAft>
            </a:pPr>
            <a:r>
              <a:rPr sz="1300" b="0">
                <a:solidFill>
                  <a:srgbClr val="5B6372"/>
                </a:solidFill>
                <a:latin typeface="Arial"/>
              </a:rPr>
              <a:t>–  Search engine listing preview</a:t>
            </a:r>
          </a:p>
          <a:p>
            <a:pPr>
              <a:spcAft>
                <a:spcPts val="1000"/>
              </a:spcAft>
            </a:pPr>
            <a:r>
              <a:rPr sz="1300" b="0">
                <a:solidFill>
                  <a:srgbClr val="5B6372"/>
                </a:solidFill>
                <a:latin typeface="Arial"/>
              </a:rPr>
              <a:t>–  Organization: type, vendor, collections, tags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Commerce data</a:t>
            </a:r>
          </a:p>
          <a:p>
            <a:pPr>
              <a:spcAft>
                <a:spcPts val="1000"/>
              </a:spcAft>
            </a:pPr>
            <a:r>
              <a:rPr sz="1300" b="0">
                <a:solidFill>
                  <a:srgbClr val="5B6372"/>
                </a:solidFill>
                <a:latin typeface="Arial"/>
              </a:rPr>
              <a:t>–  Pricing: price, compare-at, cost per item</a:t>
            </a:r>
          </a:p>
          <a:p>
            <a:pPr>
              <a:spcAft>
                <a:spcPts val="1000"/>
              </a:spcAft>
            </a:pPr>
            <a:r>
              <a:rPr sz="1300" b="0">
                <a:solidFill>
                  <a:srgbClr val="5B6372"/>
                </a:solidFill>
                <a:latin typeface="Arial"/>
              </a:rPr>
              <a:t>–  Inventory: SKU, policy, quantity, incoming</a:t>
            </a:r>
          </a:p>
          <a:p>
            <a:pPr>
              <a:spcAft>
                <a:spcPts val="1000"/>
              </a:spcAft>
            </a:pPr>
            <a:r>
              <a:rPr sz="1300" b="0">
                <a:solidFill>
                  <a:srgbClr val="5B6372"/>
                </a:solidFill>
                <a:latin typeface="Arial"/>
              </a:rPr>
              <a:t>–  Shipping: weight, origin, fulfillment</a:t>
            </a:r>
          </a:p>
          <a:p>
            <a:pPr>
              <a:spcAft>
                <a:spcPts val="1000"/>
              </a:spcAft>
            </a:pPr>
            <a:r>
              <a:rPr sz="1300" b="0">
                <a:solidFill>
                  <a:srgbClr val="5B6372"/>
                </a:solidFill>
                <a:latin typeface="Arial"/>
              </a:rPr>
              <a:t>–  Variants and sales-channel availability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PRODUCT, MANY CHOICES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Product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Options</a:t>
            </a:r>
          </a:p>
          <a:p>
            <a:pPr algn="l">
              <a:spcAft>
                <a:spcPts val="300"/>
              </a:spcAft>
            </a:pPr>
            <a:r>
              <a:rPr sz="1200" b="0">
                <a:solidFill>
                  <a:srgbClr val="5B6372"/>
                </a:solidFill>
                <a:latin typeface="Arial"/>
              </a:rPr>
              <a:t>Up to 3 options per product — e.g. size, colour, style.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Combinations</a:t>
            </a:r>
          </a:p>
          <a:p>
            <a:pPr algn="l">
              <a:spcAft>
                <a:spcPts val="300"/>
              </a:spcAft>
            </a:pPr>
            <a:r>
              <a:rPr sz="1200" b="0">
                <a:solidFill>
                  <a:srgbClr val="5B6372"/>
                </a:solidFill>
                <a:latin typeface="Arial"/>
              </a:rPr>
              <a:t>Every option combination is a variant — up to 100 per product.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Per-variant data</a:t>
            </a:r>
          </a:p>
          <a:p>
            <a:pPr algn="l">
              <a:spcAft>
                <a:spcPts val="300"/>
              </a:spcAft>
            </a:pPr>
            <a:r>
              <a:rPr sz="1200" b="0">
                <a:solidFill>
                  <a:srgbClr val="5B6372"/>
                </a:solidFill>
                <a:latin typeface="Arial"/>
              </a:rPr>
              <a:t>Each variant carries its own price, SKU, barcode, image and stock.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Manage centrally</a:t>
            </a:r>
          </a:p>
          <a:p>
            <a:pPr algn="l">
              <a:spcAft>
                <a:spcPts val="300"/>
              </a:spcAft>
            </a:pPr>
            <a:r>
              <a:rPr sz="1200" b="0">
                <a:solidFill>
                  <a:srgbClr val="5B6372"/>
                </a:solidFill>
                <a:latin typeface="Arial"/>
              </a:rPr>
              <a:t>See and edit all variants on the product page or the Inventory page.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Products with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Stock the store two ways: bulk-import the course's mock product catalog (labs/data/mock-products.csv — 6 ready-made products with variants), then add a shirt product manually with a complete product page — title, description, images, pricing, inventory, Colour and Size variants, search engine listing, tags and sales channels.</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stocked store: 6 imported mock products plus a fully-curated shirt with Colour/Size variants, SEO listing, tags and sales channels.</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 Products, CSV product import, product images, SEO listing editor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CREATE PRODUCTS WITH VARIANTS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Import the mock catalog (CSV)</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 new product manually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title, description &amp; media</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Colour &amp; Size variants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Edit SEO listing, tags &amp; channels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Products with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Products page must list the 6 imported mock products plus your shirt. On the storefront, the shirt's Colour and Size selectors must switch price and image per variant, and the Google preview in Edit website SEO must show your custom title and description.</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Setting Up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LO2 — Curate product and web content on Shopify store</a:t>
            </a:r>
          </a:p>
          <a:p>
            <a:pPr>
              <a:spcAft>
                <a:spcPts val="1000"/>
              </a:spcAft>
            </a:pPr>
            <a:r>
              <a:rPr sz="1700" b="0">
                <a:solidFill>
                  <a:srgbClr val="161B26"/>
                </a:solidFill>
                <a:latin typeface="Arial"/>
              </a:rPr>
              <a:t>•  Key concepts: Add products · Product details · Search engine metas · Variants.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Customizing Theme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Choose · Publish · Structure · Theme settings · Code · Collections · Pages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Customizing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theme defines the look and feel of your store — spa products want relaxed and luxurious; electronics want energetic and sleek.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The Shopify Theme Store offers free and paid themes, filterable by industry and collection; you can hold up to 20 themes but publish only 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Every theme shares a common structure — page elements (header, body, footer, navigation) and page types (home, collection, product, cart, blog, customer).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The theme editor customises content, layout, typography and colours with zero code; edit Liquid/HTML/CSS only when a setting does not exist.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Collections group products for browsing — an automated 'All' collection controls the order of your catalog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Standard pages such as Contact Us use built-in templates (page.contact) so every store gets a working contact form.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THEME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Theme Store to Live Storefront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Browse the Theme Store by industry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the theme to your library (up to 20)</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Publish — one live theme at a time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Customize in the theme editor — no code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Edit code only when settings run 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EVERY THEME SHARES THIS SKELETON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Structure of a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Elements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Pages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Page elements</a:t>
            </a:r>
          </a:p>
          <a:p>
            <a:pPr>
              <a:spcAft>
                <a:spcPts val="1000"/>
              </a:spcAft>
            </a:pPr>
            <a:r>
              <a:rPr sz="1300" b="0">
                <a:solidFill>
                  <a:srgbClr val="5B6372"/>
                </a:solidFill>
                <a:latin typeface="Arial"/>
              </a:rPr>
              <a:t>–  Header and navigation</a:t>
            </a:r>
          </a:p>
          <a:p>
            <a:pPr>
              <a:spcAft>
                <a:spcPts val="1000"/>
              </a:spcAft>
            </a:pPr>
            <a:r>
              <a:rPr sz="1300" b="0">
                <a:solidFill>
                  <a:srgbClr val="5B6372"/>
                </a:solidFill>
                <a:latin typeface="Arial"/>
              </a:rPr>
              <a:t>–  Body content sections</a:t>
            </a:r>
          </a:p>
          <a:p>
            <a:pPr>
              <a:spcAft>
                <a:spcPts val="1000"/>
              </a:spcAft>
            </a:pPr>
            <a:r>
              <a:rPr sz="1300" b="0">
                <a:solidFill>
                  <a:srgbClr val="5B6372"/>
                </a:solidFill>
                <a:latin typeface="Arial"/>
              </a:rPr>
              <a:t>–  Footer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Page types</a:t>
            </a:r>
          </a:p>
          <a:p>
            <a:pPr>
              <a:spcAft>
                <a:spcPts val="1000"/>
              </a:spcAft>
            </a:pPr>
            <a:r>
              <a:rPr sz="1300" b="0">
                <a:solidFill>
                  <a:srgbClr val="5B6372"/>
                </a:solidFill>
                <a:latin typeface="Arial"/>
              </a:rPr>
              <a:t>–  Home · Collection · Product</a:t>
            </a:r>
          </a:p>
          <a:p>
            <a:pPr>
              <a:spcAft>
                <a:spcPts val="1000"/>
              </a:spcAft>
            </a:pPr>
            <a:r>
              <a:rPr sz="1300" b="0">
                <a:solidFill>
                  <a:srgbClr val="5B6372"/>
                </a:solidFill>
                <a:latin typeface="Arial"/>
              </a:rPr>
              <a:t>–  Cart · Checkout</a:t>
            </a:r>
          </a:p>
          <a:p>
            <a:pPr>
              <a:spcAft>
                <a:spcPts val="1000"/>
              </a:spcAft>
            </a:pPr>
            <a:r>
              <a:rPr sz="1300" b="0">
                <a:solidFill>
                  <a:srgbClr val="5B6372"/>
                </a:solidFill>
                <a:latin typeface="Arial"/>
              </a:rPr>
              <a:t>–  Article · Blog · Customer pages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THEME EDITOR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Theme Settings You Can Customise — No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Homepage sections — hero, featured products, rich text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Colours and typography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Logo and favicon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Social media links and sharing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Newsletter sign-up section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Recommended products / Google Maps API key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Install and Customize a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Browse the Shopify Theme Store, install a new theme, publish it, then use the theme editor to brand the store — logo, banner, colours, fonts and social media links — without touching code, and peek at the theme code editor.</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published, branded theme with your own logo, hero banner, colour scheme, typography and social media links.</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Theme Store (themes.shopify.com), theme editor, theme code editor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INSTALL AND CUSTOMIZE A THEME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Browse the Theme Store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 free theme to your library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Publish the theme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Customize logo, banner, colours &amp; fonts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social media links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Install and Customize a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the storefront preview: your logo, banner, brand colours, fonts and social icons must all be live on the published theme.</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a Collection and a Contact Us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Control the catalog page with an automated 'All' collection, then add a Contact Us page using the built-in page.contact template so customers can reach you.</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An automated All collection ordering your catalog page, plus a working Contact Us page with a built-in contact form.</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 Collections, Pages, page.contact template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CREATE A COLLECTION AND A CONTACT US PAGE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an automated collection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the product conditions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 new page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the contact template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it to navigation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a Collection and a Contact Us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 the storefront: the Contact Us link must appear in the main menu and the page must show a working contact form (Name, Email, Message). Submit a test message to yourself.</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Customizing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LO3 — Improve customer experience by customising Shopify theme</a:t>
            </a:r>
          </a:p>
          <a:p>
            <a:pPr>
              <a:spcAft>
                <a:spcPts val="1000"/>
              </a:spcAft>
            </a:pPr>
            <a:r>
              <a:rPr sz="1700" b="0">
                <a:solidFill>
                  <a:srgbClr val="161B26"/>
                </a:solidFill>
                <a:latin typeface="Arial"/>
              </a:rPr>
              <a:t>•  Key concepts: Choose · Publish · Structure · Theme settings · Code · Collections · Pages.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Managing Orders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View · Fulfill · Manage · Refund and cancel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Managing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When a customer places an order you get an email notification, the order appears on the Orders page, and the customer receives a confirmation email.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Fulfillment = picking and packing the products, labelling the shipment and handing it to a carrier — Shopify tracks the status end to end.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The order Timeline records every event — payments, fulfillments, notes — and is your first stop when troubleshooting a failed capture or refund.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Day-to-day order management: tags and notes, contacting the customer, resending notifications, push notifications and archiving fulfilled orders.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Refunds can be full or partial, with optional restocking and customer notification — cancellations reverse the order entirely.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Consistent, timely order handling keeps the store content and inventory accurate and maintains customer trust.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ORDER LIFECYCLE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When an Order Comes 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Customer places the order on any channel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get a new-order email notification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 order appears on the Orders page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Customer receives the confirmation email</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Order processing and fulfillment begin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RUNNING THE BACK OFFICE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Fulfillment &amp; Day-to-Day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Pick &amp; pack</a:t>
            </a:r>
          </a:p>
          <a:p>
            <a:pPr algn="l">
              <a:spcAft>
                <a:spcPts val="300"/>
              </a:spcAft>
            </a:pPr>
            <a:r>
              <a:rPr sz="1200" b="0">
                <a:solidFill>
                  <a:srgbClr val="5B6372"/>
                </a:solidFill>
                <a:latin typeface="Arial"/>
              </a:rPr>
              <a:t>Prepare the items and package them for shipment.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 &amp; ship</a:t>
            </a:r>
          </a:p>
          <a:p>
            <a:pPr algn="l">
              <a:spcAft>
                <a:spcPts val="300"/>
              </a:spcAft>
            </a:pPr>
            <a:r>
              <a:rPr sz="1200" b="0">
                <a:solidFill>
                  <a:srgbClr val="5B6372"/>
                </a:solidFill>
                <a:latin typeface="Arial"/>
              </a:rPr>
              <a:t>Label the order and hand it to the mail carrier.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Timeline</a:t>
            </a:r>
          </a:p>
          <a:p>
            <a:pPr algn="l">
              <a:spcAft>
                <a:spcPts val="300"/>
              </a:spcAft>
            </a:pPr>
            <a:r>
              <a:rPr sz="1200" b="0">
                <a:solidFill>
                  <a:srgbClr val="5B6372"/>
                </a:solidFill>
                <a:latin typeface="Arial"/>
              </a:rPr>
              <a:t>Every payment and event is recorded — expand events to troubleshoot.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Tags &amp; notes</a:t>
            </a:r>
          </a:p>
          <a:p>
            <a:pPr algn="l">
              <a:spcAft>
                <a:spcPts val="300"/>
              </a:spcAft>
            </a:pPr>
            <a:r>
              <a:rPr sz="1200" b="0">
                <a:solidFill>
                  <a:srgbClr val="5B6372"/>
                </a:solidFill>
                <a:latin typeface="Arial"/>
              </a:rPr>
              <a:t>Tag, annotate and archive orders to stay organised.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Notify</a:t>
            </a:r>
          </a:p>
          <a:p>
            <a:pPr algn="l">
              <a:spcAft>
                <a:spcPts val="300"/>
              </a:spcAft>
            </a:pPr>
            <a:r>
              <a:rPr sz="1200" b="0">
                <a:solidFill>
                  <a:srgbClr val="5B6372"/>
                </a:solidFill>
                <a:latin typeface="Arial"/>
              </a:rPr>
              <a:t>Contact the customer or resend order emails anytime.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Refund &amp; cancel</a:t>
            </a:r>
          </a:p>
          <a:p>
            <a:pPr algn="l">
              <a:spcAft>
                <a:spcPts val="300"/>
              </a:spcAft>
            </a:pPr>
            <a:r>
              <a:rPr sz="1200" b="0">
                <a:solidFill>
                  <a:srgbClr val="5B6372"/>
                </a:solidFill>
                <a:latin typeface="Arial"/>
              </a:rPr>
              <a:t>Full or partial refunds, optional restock and customer notification.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Process, Fulfill and Refund an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Place a trial order on your own store using a manual payment method, then work the full order lifecycle in the admin — view the order and its Timeline, fulfill it, and process a partial refund.</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completed order lifecycle: a test order that has been viewed, paid, fulfilled and refunded, with the Timeline recording every event.</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 Orders, order Timeline, fulfillment, refunds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FULFILL AND REFUND AN ORDER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Place a trial order on your storefront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View the order &amp; its Timeline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Mark as paid &amp; fulfill the order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Refund the order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Tag, note &amp; archive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Process, Fulfill and Refund an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order page must show Paid → Fulfilled → Refunded events on the Timeline, and the customer email inbox must have the confirmation, shipment and refund notifications.</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Managing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LO4 — Manage orders on Shopify store</a:t>
            </a:r>
          </a:p>
          <a:p>
            <a:pPr>
              <a:spcAft>
                <a:spcPts val="1000"/>
              </a:spcAft>
            </a:pPr>
            <a:r>
              <a:rPr sz="1700" b="0">
                <a:solidFill>
                  <a:srgbClr val="161B26"/>
                </a:solidFill>
                <a:latin typeface="Arial"/>
              </a:rPr>
              <a:t>•  Key concepts: View · Fulfill · Manage · Refund and cancel.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Payment and Shipping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Payments · PayPal · Manual methods · Fraud · Taxes · Shipping · Dropshipping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Payment and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Customers pay with any method you enable under Settings → Payments — Shopify Payments, PayPal, credit cards, wallets and manual methods.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PayPal Express Checkout is created automatically with your store email — activate it to start receiving PayPal payments immediately.</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Manual payment methods (bank deposit, cash on delivery, custom) suit local markets — orders stay pending until you mark them paid.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Shopify's built-in fraud analysis flags suspicious orders — verify the IP, phone and email, match billing and shipping addresses, review high-value orders.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Configure taxes for every country and region you ship to; Singapore stores charge GST where registered.</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Shipping strategy is a business decision: free shipping, exact carrier rates or flat rates — supported by product weights and default packaging.</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Dropshipping and fulfillment services ship on your behalf — you price shipping by their fees, not the carrier's.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SETTINGS → PAYMENTS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Ways to Get Paid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Shopify Payments</a:t>
            </a:r>
          </a:p>
          <a:p>
            <a:pPr algn="l">
              <a:spcAft>
                <a:spcPts val="300"/>
              </a:spcAft>
            </a:pPr>
            <a:r>
              <a:rPr sz="1200" b="0">
                <a:solidFill>
                  <a:srgbClr val="5B6372"/>
                </a:solidFill>
                <a:latin typeface="Arial"/>
              </a:rPr>
              <a:t>Built-in credit card processing — no third-party account.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PayPal</a:t>
            </a:r>
          </a:p>
          <a:p>
            <a:pPr algn="l">
              <a:spcAft>
                <a:spcPts val="300"/>
              </a:spcAft>
            </a:pPr>
            <a:r>
              <a:rPr sz="1200" b="0">
                <a:solidFill>
                  <a:srgbClr val="5B6372"/>
                </a:solidFill>
                <a:latin typeface="Arial"/>
              </a:rPr>
              <a:t>Express Checkout is auto-created with your store email.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Third-party gateways</a:t>
            </a:r>
          </a:p>
          <a:p>
            <a:pPr algn="l">
              <a:spcAft>
                <a:spcPts val="300"/>
              </a:spcAft>
            </a:pPr>
            <a:r>
              <a:rPr sz="1200" b="0">
                <a:solidFill>
                  <a:srgbClr val="5B6372"/>
                </a:solidFill>
                <a:latin typeface="Arial"/>
              </a:rPr>
              <a:t>Credit card providers beyond Shopify Payments.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Wallets</a:t>
            </a:r>
          </a:p>
          <a:p>
            <a:pPr algn="l">
              <a:spcAft>
                <a:spcPts val="300"/>
              </a:spcAft>
            </a:pPr>
            <a:r>
              <a:rPr sz="1200" b="0">
                <a:solidFill>
                  <a:srgbClr val="5B6372"/>
                </a:solidFill>
                <a:latin typeface="Arial"/>
              </a:rPr>
              <a:t>Apple Pay, Google Pay, Amazon Pay — one-tap checkout.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Manual methods</a:t>
            </a:r>
          </a:p>
          <a:p>
            <a:pPr algn="l">
              <a:spcAft>
                <a:spcPts val="300"/>
              </a:spcAft>
            </a:pPr>
            <a:r>
              <a:rPr sz="1200" b="0">
                <a:solidFill>
                  <a:srgbClr val="5B6372"/>
                </a:solidFill>
                <a:latin typeface="Arial"/>
              </a:rPr>
              <a:t>Bank deposit, cash on delivery, custom payment.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Alternative</a:t>
            </a:r>
          </a:p>
          <a:p>
            <a:pPr algn="l">
              <a:spcAft>
                <a:spcPts val="300"/>
              </a:spcAft>
            </a:pPr>
            <a:r>
              <a:rPr sz="1200" b="0">
                <a:solidFill>
                  <a:srgbClr val="5B6372"/>
                </a:solidFill>
                <a:latin typeface="Arial"/>
              </a:rPr>
              <a:t>Cryptocurrency and instalment providers.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SHOPIFY FRAUD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Fraud Prevention — Check Before You Fulfill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Verify the IP address of the order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Call the phone number on the order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Search the email address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Match billing and shipping addresses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Watch multiple orders shipping to one address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Review high-value orders; install fraud apps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PLAN BEFORE YOU SHIP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Shipping Strategies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Free shipping</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cost into product price</a:t>
            </a:r>
          </a:p>
          <a:p>
            <a:pPr>
              <a:spcAft>
                <a:spcPts val="900"/>
              </a:spcAft>
            </a:pPr>
            <a:r>
              <a:rPr sz="1400" b="0">
                <a:solidFill>
                  <a:srgbClr val="161B26"/>
                </a:solidFill>
                <a:latin typeface="Arial"/>
              </a:rPr>
              <a:t>•  Great conversion booster</a:t>
            </a:r>
          </a:p>
          <a:p>
            <a:pPr>
              <a:spcAft>
                <a:spcPts val="900"/>
              </a:spcAft>
            </a:pPr>
            <a:r>
              <a:rPr sz="1400" b="0">
                <a:solidFill>
                  <a:srgbClr val="161B26"/>
                </a:solidFill>
                <a:latin typeface="Arial"/>
              </a:rPr>
              <a:t>•  Or free above a threshold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Exact cost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Live carrier-calculated rates</a:t>
            </a:r>
          </a:p>
          <a:p>
            <a:pPr>
              <a:spcAft>
                <a:spcPts val="900"/>
              </a:spcAft>
            </a:pPr>
            <a:r>
              <a:rPr sz="1400" b="0">
                <a:solidFill>
                  <a:srgbClr val="161B26"/>
                </a:solidFill>
                <a:latin typeface="Arial"/>
              </a:rPr>
              <a:t>•  Customer pays what you pay</a:t>
            </a:r>
          </a:p>
          <a:p>
            <a:pPr>
              <a:spcAft>
                <a:spcPts val="900"/>
              </a:spcAft>
            </a:pPr>
            <a:r>
              <a:rPr sz="1400" b="0">
                <a:solidFill>
                  <a:srgbClr val="161B26"/>
                </a:solidFill>
                <a:latin typeface="Arial"/>
              </a:rPr>
              <a:t>•  Needs accurate product weights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Flat rate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Simple, predictable pricing</a:t>
            </a:r>
          </a:p>
          <a:p>
            <a:pPr>
              <a:spcAft>
                <a:spcPts val="900"/>
              </a:spcAft>
            </a:pPr>
            <a:r>
              <a:rPr sz="1400" b="0">
                <a:solidFill>
                  <a:srgbClr val="161B26"/>
                </a:solidFill>
                <a:latin typeface="Arial"/>
              </a:rPr>
              <a:t>•  Per order or per zone</a:t>
            </a:r>
          </a:p>
          <a:p>
            <a:pPr>
              <a:spcAft>
                <a:spcPts val="900"/>
              </a:spcAft>
            </a:pPr>
            <a:r>
              <a:rPr sz="1400" b="0">
                <a:solidFill>
                  <a:srgbClr val="161B26"/>
                </a:solidFill>
                <a:latin typeface="Arial"/>
              </a:rPr>
              <a:t>•  Easiest place to start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SELL WITHOUT A WAREHOUSE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Dropshipping &amp; Fulfillment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Model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Implications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How it works</a:t>
            </a:r>
          </a:p>
          <a:p>
            <a:pPr>
              <a:spcAft>
                <a:spcPts val="1000"/>
              </a:spcAft>
            </a:pPr>
            <a:r>
              <a:rPr sz="1300" b="0">
                <a:solidFill>
                  <a:srgbClr val="5B6372"/>
                </a:solidFill>
                <a:latin typeface="Arial"/>
              </a:rPr>
              <a:t>–  The service stores, prints or makes the product</a:t>
            </a:r>
          </a:p>
          <a:p>
            <a:pPr>
              <a:spcAft>
                <a:spcPts val="1000"/>
              </a:spcAft>
            </a:pPr>
            <a:r>
              <a:rPr sz="1300" b="0">
                <a:solidFill>
                  <a:srgbClr val="5B6372"/>
                </a:solidFill>
                <a:latin typeface="Arial"/>
              </a:rPr>
              <a:t>–  They ship directly to your customer</a:t>
            </a:r>
          </a:p>
          <a:p>
            <a:pPr>
              <a:spcAft>
                <a:spcPts val="1000"/>
              </a:spcAft>
            </a:pPr>
            <a:r>
              <a:rPr sz="1300" b="0">
                <a:solidFill>
                  <a:srgbClr val="5B6372"/>
                </a:solidFill>
                <a:latin typeface="Arial"/>
              </a:rPr>
              <a:t>–  You never touch inventory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What changes</a:t>
            </a:r>
          </a:p>
          <a:p>
            <a:pPr>
              <a:spcAft>
                <a:spcPts val="1000"/>
              </a:spcAft>
            </a:pPr>
            <a:r>
              <a:rPr sz="1300" b="0">
                <a:solidFill>
                  <a:srgbClr val="5B6372"/>
                </a:solidFill>
                <a:latin typeface="Arial"/>
              </a:rPr>
              <a:t>–  You price shipping from the service's fees, not carriers'</a:t>
            </a:r>
          </a:p>
          <a:p>
            <a:pPr>
              <a:spcAft>
                <a:spcPts val="1000"/>
              </a:spcAft>
            </a:pPr>
            <a:r>
              <a:rPr sz="1300" b="0">
                <a:solidFill>
                  <a:srgbClr val="5B6372"/>
                </a:solidFill>
                <a:latin typeface="Arial"/>
              </a:rPr>
              <a:t>–  Print-on-demand often charges flat shipping fees</a:t>
            </a:r>
          </a:p>
          <a:p>
            <a:pPr>
              <a:spcAft>
                <a:spcPts val="1000"/>
              </a:spcAft>
            </a:pPr>
            <a:r>
              <a:rPr sz="1300" b="0">
                <a:solidFill>
                  <a:srgbClr val="5B6372"/>
                </a:solidFill>
                <a:latin typeface="Arial"/>
              </a:rPr>
              <a:t>–  Focus shifts to marketing and customer service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how your store gets paid: activate PayPal, add a manual Bank Deposit method with customer instructions, set automatic payment capture and review Shopify's fraud analysis indicators.</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store that accepts PayPal and Bank Deposit, captures card payments automatically, and a fraud-check routine for suspicious orders.</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 Settings → Payments, PayPal, manual payment methods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SET UP PAYMENT METHODS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6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Settings → Payments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Activate PayPal with your account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Bank Deposit with instructions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automatic payment capture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fraud indicators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checkout must offer PayPal and Bank Deposit; the Bank Deposit order confirmation page must show your payment instructions; Settings → Payments must show automatic capture enabled.</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Configure Shipping Rates and Taxes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Plan your shipping strategy and implement it: add product weights, create a Singapore shipping zone with a flat rate, add free shipping for orders above $200, and review tax settings for the regions you sell to.</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working shipping setup — Singapore zone with a flat rate plus free shipping over $200 — and taxes configured for your selling regions.</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 Settings → Shipping and delivery, Settings → Taxes and duties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CONFIGURE SHIPPING RATES AND TAXES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7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the shipping strategy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Settings → Shipping</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Singapore zone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flat &amp; free-shipping rates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taxes for your regions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Configure Shipping Rates and Taxes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Checkout shows Standard Delivery ($5) below $200 and Free Shipping at/above $200 for a Singapore address; product weights and tax regions are in place.</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Payment and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LO5 — Manage payment and shipping issues on Shopify store</a:t>
            </a:r>
          </a:p>
          <a:p>
            <a:pPr>
              <a:spcAft>
                <a:spcPts val="1000"/>
              </a:spcAft>
            </a:pPr>
            <a:r>
              <a:rPr sz="1700" b="0">
                <a:solidFill>
                  <a:srgbClr val="161B26"/>
                </a:solidFill>
                <a:latin typeface="Arial"/>
              </a:rPr>
              <a:t>•  Key concepts: Payments · PayPal · Manual methods · Fraud · Taxes · Shipping · Dropshipping.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Marketing and Performance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Marketing plan · SEO · Discounts · Analytics · Pixels · Newsletter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Marketing and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After launch, the job is traffic and conversion — a marketing plan chooses the tactics that fit your store and budget.</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The 7-step marketing plan: define your message, understand customers, choose tactics, set goals, choose channels, analyse impact, repeat.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SEO raises your ranking for shoppers already searching for your products — keywords in page titles, meta descriptions, ALT text and body content.</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Shopify automates canonical tags, sitemap.xml, robots.txt and social sharing; you optimise titles, descriptions, URLs and image ALT text.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Discount codes and automatic discounts (percentage, fixed, free shipping) drive promotions — with usage limits and active dates.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Store analytics measure performance: sessions, conversion funnel, top traffic sources and locations, sales attributed to marketing.</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Google Analytics, Facebook Pixel and Google Ads conversion tags track campaigns; a newsletter app builds a repeat-customer email list.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MARKETING PLAN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7-Step Marketing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25272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870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960120" cy="1325880"/>
          </a:xfrm>
          <a:prstGeom prst="rect">
            <a:avLst/>
          </a:prstGeom>
          <a:noFill/>
        </p:spPr>
        <p:txBody>
          <a:bodyPr wrap="square" anchor="t">
            <a:spAutoFit/>
          </a:bodyPr>
          <a:lstStyle/>
          <a:p>
            <a:pPr algn="ctr">
              <a:spcAft>
                <a:spcPts val="400"/>
              </a:spcAft>
            </a:pPr>
            <a:r>
              <a:rPr sz="1200" b="0">
                <a:solidFill>
                  <a:srgbClr val="161B26"/>
                </a:solidFill>
                <a:latin typeface="Arial"/>
              </a:rPr>
              <a:t>Define your message</a:t>
            </a:r>
          </a:p>
        </p:txBody>
      </p:sp>
      <p:sp>
        <p:nvSpPr>
          <p:cNvPr id="12" name="TextBox 11"/>
          <p:cNvSpPr txBox="1"/>
          <p:nvPr/>
        </p:nvSpPr>
        <p:spPr>
          <a:xfrm>
            <a:off x="199339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340864"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40864" y="2331720"/>
            <a:ext cx="125272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5923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23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487168" y="3749040"/>
            <a:ext cx="960120" cy="1325880"/>
          </a:xfrm>
          <a:prstGeom prst="rect">
            <a:avLst/>
          </a:prstGeom>
          <a:noFill/>
        </p:spPr>
        <p:txBody>
          <a:bodyPr wrap="square" anchor="t">
            <a:spAutoFit/>
          </a:bodyPr>
          <a:lstStyle/>
          <a:p>
            <a:pPr algn="ctr">
              <a:spcAft>
                <a:spcPts val="400"/>
              </a:spcAft>
            </a:pPr>
            <a:r>
              <a:rPr sz="1200" b="0">
                <a:solidFill>
                  <a:srgbClr val="161B26"/>
                </a:solidFill>
                <a:latin typeface="Arial"/>
              </a:rPr>
              <a:t>Know your customers</a:t>
            </a:r>
          </a:p>
        </p:txBody>
      </p:sp>
      <p:sp>
        <p:nvSpPr>
          <p:cNvPr id="18" name="TextBox 17"/>
          <p:cNvSpPr txBox="1"/>
          <p:nvPr/>
        </p:nvSpPr>
        <p:spPr>
          <a:xfrm>
            <a:off x="355701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3904488"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04488" y="2331720"/>
            <a:ext cx="125272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15594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5594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050792" y="3749040"/>
            <a:ext cx="960120" cy="1325880"/>
          </a:xfrm>
          <a:prstGeom prst="rect">
            <a:avLst/>
          </a:prstGeom>
          <a:noFill/>
        </p:spPr>
        <p:txBody>
          <a:bodyPr wrap="square" anchor="t">
            <a:spAutoFit/>
          </a:bodyPr>
          <a:lstStyle/>
          <a:p>
            <a:pPr algn="ctr">
              <a:spcAft>
                <a:spcPts val="400"/>
              </a:spcAft>
            </a:pPr>
            <a:r>
              <a:rPr sz="1200" b="0">
                <a:solidFill>
                  <a:srgbClr val="161B26"/>
                </a:solidFill>
                <a:latin typeface="Arial"/>
              </a:rPr>
              <a:t>Choose tactics</a:t>
            </a:r>
          </a:p>
        </p:txBody>
      </p:sp>
      <p:sp>
        <p:nvSpPr>
          <p:cNvPr id="24" name="TextBox 23"/>
          <p:cNvSpPr txBox="1"/>
          <p:nvPr/>
        </p:nvSpPr>
        <p:spPr>
          <a:xfrm>
            <a:off x="512064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5468112"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68112" y="2331720"/>
            <a:ext cx="125272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1957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5614416" y="3749040"/>
            <a:ext cx="960120" cy="1325880"/>
          </a:xfrm>
          <a:prstGeom prst="rect">
            <a:avLst/>
          </a:prstGeom>
          <a:noFill/>
        </p:spPr>
        <p:txBody>
          <a:bodyPr wrap="square" anchor="t">
            <a:spAutoFit/>
          </a:bodyPr>
          <a:lstStyle/>
          <a:p>
            <a:pPr algn="ctr">
              <a:spcAft>
                <a:spcPts val="400"/>
              </a:spcAft>
            </a:pPr>
            <a:r>
              <a:rPr sz="1200" b="0">
                <a:solidFill>
                  <a:srgbClr val="161B26"/>
                </a:solidFill>
                <a:latin typeface="Arial"/>
              </a:rPr>
              <a:t>Set goals</a:t>
            </a:r>
          </a:p>
        </p:txBody>
      </p:sp>
      <p:sp>
        <p:nvSpPr>
          <p:cNvPr id="30" name="TextBox 29"/>
          <p:cNvSpPr txBox="1"/>
          <p:nvPr/>
        </p:nvSpPr>
        <p:spPr>
          <a:xfrm>
            <a:off x="668426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7031736"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31736" y="2331720"/>
            <a:ext cx="125272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8319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319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7178040" y="3749040"/>
            <a:ext cx="960120" cy="1325880"/>
          </a:xfrm>
          <a:prstGeom prst="rect">
            <a:avLst/>
          </a:prstGeom>
          <a:noFill/>
        </p:spPr>
        <p:txBody>
          <a:bodyPr wrap="square" anchor="t">
            <a:spAutoFit/>
          </a:bodyPr>
          <a:lstStyle/>
          <a:p>
            <a:pPr algn="ctr">
              <a:spcAft>
                <a:spcPts val="400"/>
              </a:spcAft>
            </a:pPr>
            <a:r>
              <a:rPr sz="1200" b="0">
                <a:solidFill>
                  <a:srgbClr val="161B26"/>
                </a:solidFill>
                <a:latin typeface="Arial"/>
              </a:rPr>
              <a:t>Choose channels</a:t>
            </a:r>
          </a:p>
        </p:txBody>
      </p:sp>
      <p:sp>
        <p:nvSpPr>
          <p:cNvPr id="36" name="TextBox 35"/>
          <p:cNvSpPr txBox="1"/>
          <p:nvPr/>
        </p:nvSpPr>
        <p:spPr>
          <a:xfrm>
            <a:off x="824788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8595360"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95360" y="2331720"/>
            <a:ext cx="125272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84682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4682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8741664" y="3749040"/>
            <a:ext cx="960120" cy="1325880"/>
          </a:xfrm>
          <a:prstGeom prst="rect">
            <a:avLst/>
          </a:prstGeom>
          <a:noFill/>
        </p:spPr>
        <p:txBody>
          <a:bodyPr wrap="square" anchor="t">
            <a:spAutoFit/>
          </a:bodyPr>
          <a:lstStyle/>
          <a:p>
            <a:pPr algn="ctr">
              <a:spcAft>
                <a:spcPts val="400"/>
              </a:spcAft>
            </a:pPr>
            <a:r>
              <a:rPr sz="1200" b="0">
                <a:solidFill>
                  <a:srgbClr val="161B26"/>
                </a:solidFill>
                <a:latin typeface="Arial"/>
              </a:rPr>
              <a:t>Analyse impact</a:t>
            </a:r>
          </a:p>
        </p:txBody>
      </p:sp>
      <p:sp>
        <p:nvSpPr>
          <p:cNvPr id="42" name="TextBox 41"/>
          <p:cNvSpPr txBox="1"/>
          <p:nvPr/>
        </p:nvSpPr>
        <p:spPr>
          <a:xfrm>
            <a:off x="981151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43" name="Rectangle 42"/>
          <p:cNvSpPr/>
          <p:nvPr/>
        </p:nvSpPr>
        <p:spPr>
          <a:xfrm>
            <a:off x="10158984"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158984" y="2331720"/>
            <a:ext cx="125272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41044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1044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7</a:t>
            </a:r>
          </a:p>
        </p:txBody>
      </p:sp>
      <p:sp>
        <p:nvSpPr>
          <p:cNvPr id="47" name="TextBox 46"/>
          <p:cNvSpPr txBox="1"/>
          <p:nvPr/>
        </p:nvSpPr>
        <p:spPr>
          <a:xfrm>
            <a:off x="10305288" y="3749040"/>
            <a:ext cx="960120" cy="1325880"/>
          </a:xfrm>
          <a:prstGeom prst="rect">
            <a:avLst/>
          </a:prstGeom>
          <a:noFill/>
        </p:spPr>
        <p:txBody>
          <a:bodyPr wrap="square" anchor="t">
            <a:spAutoFit/>
          </a:bodyPr>
          <a:lstStyle/>
          <a:p>
            <a:pPr algn="ctr">
              <a:spcAft>
                <a:spcPts val="400"/>
              </a:spcAft>
            </a:pPr>
            <a:r>
              <a:rPr sz="1200" b="0">
                <a:solidFill>
                  <a:srgbClr val="161B26"/>
                </a:solidFill>
                <a:latin typeface="Arial"/>
              </a:rPr>
              <a:t>Repeat</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 FOUND ON GOOGLE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Improve Your SEO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Find keywords</a:t>
            </a:r>
          </a:p>
          <a:p>
            <a:pPr algn="l">
              <a:spcAft>
                <a:spcPts val="300"/>
              </a:spcAft>
            </a:pPr>
            <a:r>
              <a:rPr sz="1200" b="0">
                <a:solidFill>
                  <a:srgbClr val="5B6372"/>
                </a:solidFill>
                <a:latin typeface="Arial"/>
              </a:rPr>
              <a:t>What search terms would your customers use to find you?</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Place keywords</a:t>
            </a:r>
          </a:p>
          <a:p>
            <a:pPr algn="l">
              <a:spcAft>
                <a:spcPts val="300"/>
              </a:spcAft>
            </a:pPr>
            <a:r>
              <a:rPr sz="1200" b="0">
                <a:solidFill>
                  <a:srgbClr val="5B6372"/>
                </a:solidFill>
                <a:latin typeface="Arial"/>
              </a:rPr>
              <a:t>Page titles, meta descriptions, image ALT text, body content.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Clean URLs</a:t>
            </a:r>
          </a:p>
          <a:p>
            <a:pPr algn="l">
              <a:spcAft>
                <a:spcPts val="300"/>
              </a:spcAft>
            </a:pPr>
            <a:r>
              <a:rPr sz="1200" b="0">
                <a:solidFill>
                  <a:srgbClr val="5B6372"/>
                </a:solidFill>
                <a:latin typeface="Arial"/>
              </a:rPr>
              <a:t>Make URLs and filenames match the content.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 sitemap</a:t>
            </a:r>
          </a:p>
          <a:p>
            <a:pPr algn="l">
              <a:spcAft>
                <a:spcPts val="300"/>
              </a:spcAft>
            </a:pPr>
            <a:r>
              <a:rPr sz="1200" b="0">
                <a:solidFill>
                  <a:srgbClr val="5B6372"/>
                </a:solidFill>
                <a:latin typeface="Arial"/>
              </a:rPr>
              <a:t>Add sitemap.xml to Google Search Console for crawling and indexing.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BUILT-IN SEO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SEO in Shopify — Automatic vs Yours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Shopify does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You do</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Automatic</a:t>
            </a:r>
          </a:p>
          <a:p>
            <a:pPr>
              <a:spcAft>
                <a:spcPts val="1000"/>
              </a:spcAft>
            </a:pPr>
            <a:r>
              <a:rPr sz="1300" b="0">
                <a:solidFill>
                  <a:srgbClr val="5B6372"/>
                </a:solidFill>
                <a:latin typeface="Arial"/>
              </a:rPr>
              <a:t>–  Canonical tags prevent duplicate content</a:t>
            </a:r>
          </a:p>
          <a:p>
            <a:pPr>
              <a:spcAft>
                <a:spcPts val="1000"/>
              </a:spcAft>
            </a:pPr>
            <a:r>
              <a:rPr sz="1300" b="0">
                <a:solidFill>
                  <a:srgbClr val="5B6372"/>
                </a:solidFill>
                <a:latin typeface="Arial"/>
              </a:rPr>
              <a:t>–  sitemap.xml and robots.txt generated</a:t>
            </a:r>
          </a:p>
          <a:p>
            <a:pPr>
              <a:spcAft>
                <a:spcPts val="1000"/>
              </a:spcAft>
            </a:pPr>
            <a:r>
              <a:rPr sz="1300" b="0">
                <a:solidFill>
                  <a:srgbClr val="5B6372"/>
                </a:solidFill>
                <a:latin typeface="Arial"/>
              </a:rPr>
              <a:t>–  Theme title tags include your store name</a:t>
            </a:r>
          </a:p>
          <a:p>
            <a:pPr>
              <a:spcAft>
                <a:spcPts val="1000"/>
              </a:spcAft>
            </a:pPr>
            <a:r>
              <a:rPr sz="1300" b="0">
                <a:solidFill>
                  <a:srgbClr val="5B6372"/>
                </a:solidFill>
                <a:latin typeface="Arial"/>
              </a:rPr>
              <a:t>–  Logical content hierarchy, no iframes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You optimise</a:t>
            </a:r>
          </a:p>
          <a:p>
            <a:pPr>
              <a:spcAft>
                <a:spcPts val="1000"/>
              </a:spcAft>
            </a:pPr>
            <a:r>
              <a:rPr sz="1300" b="0">
                <a:solidFill>
                  <a:srgbClr val="5B6372"/>
                </a:solidFill>
                <a:latin typeface="Arial"/>
              </a:rPr>
              <a:t>–  Title tags and meta descriptions</a:t>
            </a:r>
          </a:p>
          <a:p>
            <a:pPr>
              <a:spcAft>
                <a:spcPts val="1000"/>
              </a:spcAft>
            </a:pPr>
            <a:r>
              <a:rPr sz="1300" b="0">
                <a:solidFill>
                  <a:srgbClr val="5B6372"/>
                </a:solidFill>
                <a:latin typeface="Arial"/>
              </a:rPr>
              <a:t>–  Image ALT text and descriptive filenames</a:t>
            </a:r>
          </a:p>
          <a:p>
            <a:pPr>
              <a:spcAft>
                <a:spcPts val="1000"/>
              </a:spcAft>
            </a:pPr>
            <a:r>
              <a:rPr sz="1300" b="0">
                <a:solidFill>
                  <a:srgbClr val="5B6372"/>
                </a:solidFill>
                <a:latin typeface="Arial"/>
              </a:rPr>
              <a:t>–  Store navigation and internal link text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ANALYTICS &amp; REPORTS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Measure What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Sessions</a:t>
            </a:r>
          </a:p>
          <a:p>
            <a:pPr algn="l">
              <a:spcAft>
                <a:spcPts val="300"/>
              </a:spcAft>
            </a:pPr>
            <a:r>
              <a:rPr sz="1200" b="0">
                <a:solidFill>
                  <a:srgbClr val="5B6372"/>
                </a:solidFill>
                <a:latin typeface="Arial"/>
              </a:rPr>
              <a:t>Online store sessions over 30 days vs the previous period.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Conversion funnel</a:t>
            </a:r>
          </a:p>
          <a:p>
            <a:pPr algn="l">
              <a:spcAft>
                <a:spcPts val="300"/>
              </a:spcAft>
            </a:pPr>
            <a:r>
              <a:rPr sz="1200" b="0">
                <a:solidFill>
                  <a:srgbClr val="5B6372"/>
                </a:solidFill>
                <a:latin typeface="Arial"/>
              </a:rPr>
              <a:t>Sessions → add to cart → reach checkout → converted.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Traffic sources</a:t>
            </a:r>
          </a:p>
          <a:p>
            <a:pPr algn="l">
              <a:spcAft>
                <a:spcPts val="300"/>
              </a:spcAft>
            </a:pPr>
            <a:r>
              <a:rPr sz="1200" b="0">
                <a:solidFill>
                  <a:srgbClr val="5B6372"/>
                </a:solidFill>
                <a:latin typeface="Arial"/>
              </a:rPr>
              <a:t>Which websites and services send you visitors — and sales.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Traffic locations</a:t>
            </a:r>
          </a:p>
          <a:p>
            <a:pPr algn="l">
              <a:spcAft>
                <a:spcPts val="300"/>
              </a:spcAft>
            </a:pPr>
            <a:r>
              <a:rPr sz="1200" b="0">
                <a:solidFill>
                  <a:srgbClr val="5B6372"/>
                </a:solidFill>
                <a:latin typeface="Arial"/>
              </a:rPr>
              <a:t>Where your visitors are — target content and ads there.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Marketing sales</a:t>
            </a:r>
          </a:p>
          <a:p>
            <a:pPr algn="l">
              <a:spcAft>
                <a:spcPts val="300"/>
              </a:spcAft>
            </a:pPr>
            <a:r>
              <a:rPr sz="1200" b="0">
                <a:solidFill>
                  <a:srgbClr val="5B6372"/>
                </a:solidFill>
                <a:latin typeface="Arial"/>
              </a:rPr>
              <a:t>Sales and orders attributed to your campaigns.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spend</a:t>
            </a:r>
          </a:p>
          <a:p>
            <a:pPr algn="l">
              <a:spcAft>
                <a:spcPts val="300"/>
              </a:spcAft>
            </a:pPr>
            <a:r>
              <a:rPr sz="1200" b="0">
                <a:solidFill>
                  <a:srgbClr val="5B6372"/>
                </a:solidFill>
                <a:latin typeface="Arial"/>
              </a:rPr>
              <a:t>What you spend on campaigns in Shopify and connected channels.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TRACK EVERY CAMPAIGN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Campaign Tracking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Google Analytics</a:t>
            </a:r>
          </a:p>
          <a:p>
            <a:pPr algn="l">
              <a:spcAft>
                <a:spcPts val="300"/>
              </a:spcAft>
            </a:pPr>
            <a:r>
              <a:rPr sz="1200" b="0">
                <a:solidFill>
                  <a:srgbClr val="5B6372"/>
                </a:solidFill>
                <a:latin typeface="Arial"/>
              </a:rPr>
              <a:t>Connect via the Google &amp; YouTube channel app with your Measurement ID.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Meta / Facebook Pixel</a:t>
            </a:r>
          </a:p>
          <a:p>
            <a:pPr algn="l">
              <a:spcAft>
                <a:spcPts val="300"/>
              </a:spcAft>
            </a:pPr>
            <a:r>
              <a:rPr sz="1200" b="0">
                <a:solidFill>
                  <a:srgbClr val="5B6372"/>
                </a:solidFill>
                <a:latin typeface="Arial"/>
              </a:rPr>
              <a:t>Track standard actions from your store pages via the Facebook channel.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Google Ads tag</a:t>
            </a:r>
          </a:p>
          <a:p>
            <a:pPr algn="l">
              <a:spcAft>
                <a:spcPts val="300"/>
              </a:spcAft>
            </a:pPr>
            <a:r>
              <a:rPr sz="1200" b="0">
                <a:solidFill>
                  <a:srgbClr val="5B6372"/>
                </a:solidFill>
                <a:latin typeface="Arial"/>
              </a:rPr>
              <a:t>Conversion global site tag pasted into theme.liquid &lt;head&gt;.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Newsletter app</a:t>
            </a:r>
          </a:p>
          <a:p>
            <a:pPr algn="l">
              <a:spcAft>
                <a:spcPts val="300"/>
              </a:spcAft>
            </a:pPr>
            <a:r>
              <a:rPr sz="1200" b="0">
                <a:solidFill>
                  <a:srgbClr val="5B6372"/>
                </a:solidFill>
                <a:latin typeface="Arial"/>
              </a:rPr>
              <a:t>Mailchimp / Shopify Email / Klaviyo from apps.shopify.com builds your list.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Discounts and a Marketing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Draft a one-page marketing plan for your store using the 7-step framework, then implement your first promotion: a discount code and an automatic discount with usage limits and active dates.</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one-page marketing plan plus two live promotions — a LAUNCH10 discount code and an automatic spend-more discount.</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 Discounts, Marketing page, marketing plan worksheet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CREATE DISCOUNTS AND A MARKETING PLAN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8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the 7-step marketing plan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discount code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value, eligibility &amp; limits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an automatic discount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the Marketing page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Discounts and a Marketing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Both discounts show as Active on the Discounts page; LAUNCH10 works at checkout and the automatic discount triggers at $150; your one-page marketing plan states message, customers, tactics, goal, channels and how you will measure impact.</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SEO, Analytics and Newsletter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Make the store measurable and findable: tune SEO metadata with your keywords, connect Google Analytics, understand where the Facebook Pixel and Google Ads tag go, install a newsletter app and read the built-in performance reports.</a:t>
            </a:r>
          </a:p>
        </p:txBody>
      </p:sp>
      <p:sp>
        <p:nvSpPr>
          <p:cNvPr id="10" name="Rectangle 9"/>
          <p:cNvSpPr/>
          <p:nvPr/>
        </p:nvSpPr>
        <p:spPr>
          <a:xfrm>
            <a:off x="777240" y="3931920"/>
            <a:ext cx="10698480"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68680"/>
          </a:xfrm>
          <a:prstGeom prst="rect">
            <a:avLst/>
          </a:prstGeom>
          <a:noFill/>
        </p:spPr>
        <p:txBody>
          <a:bodyPr wrap="square" anchor="t">
            <a:spAutoFit/>
          </a:bodyPr>
          <a:lstStyle/>
          <a:p>
            <a:pPr algn="l">
              <a:spcAft>
                <a:spcPts val="400"/>
              </a:spcAft>
            </a:pPr>
            <a:r>
              <a:rPr sz="1700" b="1">
                <a:solidFill>
                  <a:srgbClr val="161B26"/>
                </a:solidFill>
                <a:latin typeface="Arial"/>
              </a:rPr>
              <a:t>A store with keyword-optimised metadata, Google Analytics connected, a newsletter signup, and a review of the store's traffic and conversion reports.</a:t>
            </a:r>
          </a:p>
        </p:txBody>
      </p:sp>
      <p:sp>
        <p:nvSpPr>
          <p:cNvPr id="13" name="TextBox 12"/>
          <p:cNvSpPr txBox="1"/>
          <p:nvPr/>
        </p:nvSpPr>
        <p:spPr>
          <a:xfrm>
            <a:off x="1005840" y="5440680"/>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Shopify admin — Online Store → Preferences, Google Analytics, Shopify App Store (newsletter app), Analytics reports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SET UP SEO, ANALYTICS AND NEWSLETTER  ·  DETAILED STEPS IN THE LEARNER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9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keywords to titles &amp; metas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Connect Google Analytics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Know where pixels &amp; tags go</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Install a newsletter app</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Read the performance reports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SEO, Analytics and Newsletter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Google Analytics Realtime shows your own visit to the storefront; the newsletter signup accepts a test email; you can name your store's top traffic source and the weakest step of the conversion funnel from the Analytics reports.</a:t>
            </a:r>
          </a:p>
        </p:txBody>
      </p:sp>
      <p:sp>
        <p:nvSpPr>
          <p:cNvPr id="10" name="TextBox 9"/>
          <p:cNvSpPr txBox="1"/>
          <p:nvPr/>
        </p:nvSpPr>
        <p:spPr>
          <a:xfrm>
            <a:off x="777240" y="4846320"/>
            <a:ext cx="10698480" cy="457200"/>
          </a:xfrm>
          <a:prstGeom prst="rect">
            <a:avLst/>
          </a:prstGeom>
          <a:noFill/>
        </p:spPr>
        <p:txBody>
          <a:bodyPr wrap="square" anchor="t">
            <a:spAutoFit/>
          </a:bodyPr>
          <a:lstStyle/>
          <a:p>
            <a:pPr algn="l">
              <a:spcAft>
                <a:spcPts val="400"/>
              </a:spcAft>
            </a:pPr>
            <a:r>
              <a:rPr sz="1400" b="0">
                <a:solidFill>
                  <a:srgbClr val="5B6372"/>
                </a:solidFill>
                <a:latin typeface="Arial"/>
              </a:rPr>
              <a:t>📖  Full click-by-click steps: Learner Guide — this lab's Step-by-step section.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Marketing and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LO6 — Develop and review Shopify store marketing and site performance</a:t>
            </a:r>
          </a:p>
          <a:p>
            <a:pPr>
              <a:spcAft>
                <a:spcPts val="1000"/>
              </a:spcAft>
            </a:pPr>
            <a:r>
              <a:rPr sz="1700" b="0">
                <a:solidFill>
                  <a:srgbClr val="161B26"/>
                </a:solidFill>
                <a:latin typeface="Arial"/>
              </a:rPr>
              <a:t>•  You can now: LO6 — Develop and review Shopify store marketing and site performance</a:t>
            </a:r>
          </a:p>
          <a:p>
            <a:pPr>
              <a:spcAft>
                <a:spcPts val="1000"/>
              </a:spcAft>
            </a:pPr>
            <a:r>
              <a:rPr sz="1700" b="0">
                <a:solidFill>
                  <a:srgbClr val="161B26"/>
                </a:solidFill>
                <a:latin typeface="Arial"/>
              </a:rPr>
              <a:t>•  Key concepts: Marketing plan · SEO · Discounts · Analytics · Pixels · Newsletter.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Store &amp; CMS</a:t>
            </a:r>
          </a:p>
          <a:p>
            <a:pPr algn="l">
              <a:spcAft>
                <a:spcPts val="300"/>
              </a:spcAft>
            </a:pPr>
            <a:r>
              <a:rPr sz="1200" b="0">
                <a:solidFill>
                  <a:srgbClr val="5B6372"/>
                </a:solidFill>
                <a:latin typeface="Arial"/>
              </a:rPr>
              <a:t>Set up a live Shopify store with correct configuration and metadata.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Products</a:t>
            </a:r>
          </a:p>
          <a:p>
            <a:pPr algn="l">
              <a:spcAft>
                <a:spcPts val="300"/>
              </a:spcAft>
            </a:pPr>
            <a:r>
              <a:rPr sz="1200" b="0">
                <a:solidFill>
                  <a:srgbClr val="5B6372"/>
                </a:solidFill>
                <a:latin typeface="Arial"/>
              </a:rPr>
              <a:t>Curated product pages with variants, images and SEO listings.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Theme</a:t>
            </a:r>
          </a:p>
          <a:p>
            <a:pPr algn="l">
              <a:spcAft>
                <a:spcPts val="300"/>
              </a:spcAft>
            </a:pPr>
            <a:r>
              <a:rPr sz="1200" b="0">
                <a:solidFill>
                  <a:srgbClr val="5B6372"/>
                </a:solidFill>
                <a:latin typeface="Arial"/>
              </a:rPr>
              <a:t>Published and branded a theme — collections and a contact page.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Orders</a:t>
            </a:r>
          </a:p>
          <a:p>
            <a:pPr algn="l">
              <a:spcAft>
                <a:spcPts val="300"/>
              </a:spcAft>
            </a:pPr>
            <a:r>
              <a:rPr sz="1200" b="0">
                <a:solidFill>
                  <a:srgbClr val="5B6372"/>
                </a:solidFill>
                <a:latin typeface="Arial"/>
              </a:rPr>
              <a:t>Processed the full order lifecycle: view, fulfill, refund, archive.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Pay &amp; ship</a:t>
            </a:r>
          </a:p>
          <a:p>
            <a:pPr algn="l">
              <a:spcAft>
                <a:spcPts val="300"/>
              </a:spcAft>
            </a:pPr>
            <a:r>
              <a:rPr sz="1200" b="0">
                <a:solidFill>
                  <a:srgbClr val="5B6372"/>
                </a:solidFill>
                <a:latin typeface="Arial"/>
              </a:rPr>
              <a:t>Activated payments, planned shipping rates and reviewed taxes.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Marketing</a:t>
            </a:r>
          </a:p>
          <a:p>
            <a:pPr algn="l">
              <a:spcAft>
                <a:spcPts val="300"/>
              </a:spcAft>
            </a:pPr>
            <a:r>
              <a:rPr sz="1200" b="0">
                <a:solidFill>
                  <a:srgbClr val="5B6372"/>
                </a:solidFill>
                <a:latin typeface="Arial"/>
              </a:rPr>
              <a:t>Launched discounts, SEO, analytics and a newsletter — and read the reports.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COURSES · tertiarycourses.com.sg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Keep Growing — 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COURSE</a:t>
            </a:r>
          </a:p>
          <a:p>
            <a:pPr algn="l">
              <a:spcAft>
                <a:spcPts val="300"/>
              </a:spcAft>
            </a:pPr>
            <a:r>
              <a:rPr sz="1100" b="0">
                <a:solidFill>
                  <a:srgbClr val="5B6372"/>
                </a:solidFill>
                <a:latin typeface="Arial"/>
              </a:rPr>
              <a:t>Search Engine Optimization (SEO) to Enhance Brand Awareness and Online Business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COURSE</a:t>
            </a:r>
          </a:p>
          <a:p>
            <a:pPr algn="l">
              <a:spcAft>
                <a:spcPts val="300"/>
              </a:spcAft>
            </a:pPr>
            <a:r>
              <a:rPr sz="1100" b="0">
                <a:solidFill>
                  <a:srgbClr val="5B6372"/>
                </a:solidFill>
                <a:latin typeface="Arial"/>
              </a:rPr>
              <a:t>Creating High-Converting Email Campaigns with Mailchimp</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COURSE</a:t>
            </a:r>
          </a:p>
          <a:p>
            <a:pPr algn="l">
              <a:spcAft>
                <a:spcPts val="300"/>
              </a:spcAft>
            </a:pPr>
            <a:r>
              <a:rPr sz="1100" b="0">
                <a:solidFill>
                  <a:srgbClr val="5B6372"/>
                </a:solidFill>
                <a:latin typeface="Arial"/>
              </a:rPr>
              <a:t>Search Engine Optimization (SEO) for Small and Medium Enterprises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COURSE</a:t>
            </a:r>
          </a:p>
          <a:p>
            <a:pPr algn="l">
              <a:spcAft>
                <a:spcPts val="300"/>
              </a:spcAft>
            </a:pPr>
            <a:r>
              <a:rPr sz="1100" b="0">
                <a:solidFill>
                  <a:srgbClr val="5B6372"/>
                </a:solidFill>
                <a:latin typeface="Arial"/>
              </a:rPr>
              <a:t>Building Professional Websites with WordPress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COURSE</a:t>
            </a:r>
          </a:p>
          <a:p>
            <a:pPr algn="l">
              <a:spcAft>
                <a:spcPts val="300"/>
              </a:spcAft>
            </a:pPr>
            <a:r>
              <a:rPr sz="1100" b="0">
                <a:solidFill>
                  <a:srgbClr val="5B6372"/>
                </a:solidFill>
                <a:latin typeface="Arial"/>
              </a:rPr>
              <a:t>Building a Successful eCommerce Store with WooCommerce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LEAVE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Log in at lms-tms.tertiaryinfotech.com</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course feedback form</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Tell us what worked and what to improve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Keep building — your Shopify store is yours to grow</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and after the class, contact us:</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SELLING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Your Shopify store is live — keep curating, keep measuring, keep selling.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Shopify eCommerce  ·  C398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